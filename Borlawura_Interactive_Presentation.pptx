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hyperlink" Target="https://encryption-nonce-technology.github.io/Borlawura/" TargetMode="External"/><Relationship Id="rId4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slide" Target="slide3.xml"/><Relationship Id="rId4" Type="http://schemas.openxmlformats.org/officeDocument/2006/relationships/slide" Target="slide4.xml"/><Relationship Id="rId5" Type="http://schemas.openxmlformats.org/officeDocument/2006/relationships/slide" Target="slide5.xml"/><Relationship Id="rId6" Type="http://schemas.openxmlformats.org/officeDocument/2006/relationships/slide" Target="slide6.xml"/><Relationship Id="rId7" Type="http://schemas.openxmlformats.org/officeDocument/2006/relationships/slide" Target="slide7.xml"/><Relationship Id="rId8" Type="http://schemas.openxmlformats.org/officeDocument/2006/relationships/slide" Target="slide8.xml"/><Relationship Id="rId9" Type="http://schemas.openxmlformats.org/officeDocument/2006/relationships/slide" Target="slide9.xml"/><Relationship Id="rId10" Type="http://schemas.openxmlformats.org/officeDocument/2006/relationships/slide" Target="slide1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slide" Target="slide3.xml"/><Relationship Id="rId4" Type="http://schemas.openxmlformats.org/officeDocument/2006/relationships/slide" Target="slide4.xml"/><Relationship Id="rId5" Type="http://schemas.openxmlformats.org/officeDocument/2006/relationships/slide" Target="slide5.xml"/><Relationship Id="rId6" Type="http://schemas.openxmlformats.org/officeDocument/2006/relationships/slide" Target="slide6.xml"/><Relationship Id="rId7" Type="http://schemas.openxmlformats.org/officeDocument/2006/relationships/slide" Target="slide7.xml"/><Relationship Id="rId8" Type="http://schemas.openxmlformats.org/officeDocument/2006/relationships/slide" Target="slide8.xml"/><Relationship Id="rId9" Type="http://schemas.openxmlformats.org/officeDocument/2006/relationships/slide" Target="slide9.xml"/><Relationship Id="rId10" Type="http://schemas.openxmlformats.org/officeDocument/2006/relationships/slide" Target="slide1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slide" Target="slide3.xml"/><Relationship Id="rId4" Type="http://schemas.openxmlformats.org/officeDocument/2006/relationships/slide" Target="slide4.xml"/><Relationship Id="rId5" Type="http://schemas.openxmlformats.org/officeDocument/2006/relationships/slide" Target="slide5.xml"/><Relationship Id="rId6" Type="http://schemas.openxmlformats.org/officeDocument/2006/relationships/slide" Target="slide6.xml"/><Relationship Id="rId7" Type="http://schemas.openxmlformats.org/officeDocument/2006/relationships/slide" Target="slide7.xml"/><Relationship Id="rId8" Type="http://schemas.openxmlformats.org/officeDocument/2006/relationships/slide" Target="slide8.xml"/><Relationship Id="rId9" Type="http://schemas.openxmlformats.org/officeDocument/2006/relationships/slide" Target="slide9.xml"/><Relationship Id="rId10" Type="http://schemas.openxmlformats.org/officeDocument/2006/relationships/slide" Target="slide10.xml"/><Relationship Id="rId11" Type="http://schemas.openxmlformats.org/officeDocument/2006/relationships/image" Target="../media/image2.jpg"/><Relationship Id="rId12" Type="http://schemas.openxmlformats.org/officeDocument/2006/relationships/hyperlink" Target="https://encryption-nonce-technology.github.io/Borlawura/auth?role=customer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slide" Target="slide3.xml"/><Relationship Id="rId4" Type="http://schemas.openxmlformats.org/officeDocument/2006/relationships/slide" Target="slide4.xml"/><Relationship Id="rId5" Type="http://schemas.openxmlformats.org/officeDocument/2006/relationships/slide" Target="slide5.xml"/><Relationship Id="rId6" Type="http://schemas.openxmlformats.org/officeDocument/2006/relationships/slide" Target="slide6.xml"/><Relationship Id="rId7" Type="http://schemas.openxmlformats.org/officeDocument/2006/relationships/slide" Target="slide7.xml"/><Relationship Id="rId8" Type="http://schemas.openxmlformats.org/officeDocument/2006/relationships/slide" Target="slide8.xml"/><Relationship Id="rId9" Type="http://schemas.openxmlformats.org/officeDocument/2006/relationships/slide" Target="slide9.xml"/><Relationship Id="rId10" Type="http://schemas.openxmlformats.org/officeDocument/2006/relationships/slide" Target="slide10.xml"/><Relationship Id="rId11" Type="http://schemas.openxmlformats.org/officeDocument/2006/relationships/image" Target="../media/image1.jpg"/><Relationship Id="rId12" Type="http://schemas.openxmlformats.org/officeDocument/2006/relationships/hyperlink" Target="https://encryption-nonce-technology.github.io/Borlawura/auth?role=collector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slide" Target="slide3.xml"/><Relationship Id="rId4" Type="http://schemas.openxmlformats.org/officeDocument/2006/relationships/slide" Target="slide4.xml"/><Relationship Id="rId5" Type="http://schemas.openxmlformats.org/officeDocument/2006/relationships/slide" Target="slide5.xml"/><Relationship Id="rId6" Type="http://schemas.openxmlformats.org/officeDocument/2006/relationships/slide" Target="slide6.xml"/><Relationship Id="rId7" Type="http://schemas.openxmlformats.org/officeDocument/2006/relationships/slide" Target="slide7.xml"/><Relationship Id="rId8" Type="http://schemas.openxmlformats.org/officeDocument/2006/relationships/slide" Target="slide8.xml"/><Relationship Id="rId9" Type="http://schemas.openxmlformats.org/officeDocument/2006/relationships/slide" Target="slide9.xml"/><Relationship Id="rId10" Type="http://schemas.openxmlformats.org/officeDocument/2006/relationships/slide" Target="slide10.xml"/><Relationship Id="rId11" Type="http://schemas.openxmlformats.org/officeDocument/2006/relationships/image" Target="../media/image3.jpg"/><Relationship Id="rId12" Type="http://schemas.openxmlformats.org/officeDocument/2006/relationships/hyperlink" Target="https://encryption-nonce-technology.github.io/Borlawura/admin/login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slide" Target="slide3.xml"/><Relationship Id="rId4" Type="http://schemas.openxmlformats.org/officeDocument/2006/relationships/slide" Target="slide4.xml"/><Relationship Id="rId5" Type="http://schemas.openxmlformats.org/officeDocument/2006/relationships/slide" Target="slide5.xml"/><Relationship Id="rId6" Type="http://schemas.openxmlformats.org/officeDocument/2006/relationships/slide" Target="slide6.xml"/><Relationship Id="rId7" Type="http://schemas.openxmlformats.org/officeDocument/2006/relationships/slide" Target="slide7.xml"/><Relationship Id="rId8" Type="http://schemas.openxmlformats.org/officeDocument/2006/relationships/slide" Target="slide8.xml"/><Relationship Id="rId9" Type="http://schemas.openxmlformats.org/officeDocument/2006/relationships/slide" Target="slide9.xml"/><Relationship Id="rId10" Type="http://schemas.openxmlformats.org/officeDocument/2006/relationships/slide" Target="slide1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slide" Target="slide3.xml"/><Relationship Id="rId4" Type="http://schemas.openxmlformats.org/officeDocument/2006/relationships/slide" Target="slide4.xml"/><Relationship Id="rId5" Type="http://schemas.openxmlformats.org/officeDocument/2006/relationships/slide" Target="slide5.xml"/><Relationship Id="rId6" Type="http://schemas.openxmlformats.org/officeDocument/2006/relationships/slide" Target="slide6.xml"/><Relationship Id="rId7" Type="http://schemas.openxmlformats.org/officeDocument/2006/relationships/slide" Target="slide7.xml"/><Relationship Id="rId8" Type="http://schemas.openxmlformats.org/officeDocument/2006/relationships/slide" Target="slide8.xml"/><Relationship Id="rId9" Type="http://schemas.openxmlformats.org/officeDocument/2006/relationships/slide" Target="slide9.xml"/><Relationship Id="rId10" Type="http://schemas.openxmlformats.org/officeDocument/2006/relationships/slide" Target="slide10.xml"/><Relationship Id="rId11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slide" Target="slide3.xml"/><Relationship Id="rId4" Type="http://schemas.openxmlformats.org/officeDocument/2006/relationships/slide" Target="slide4.xml"/><Relationship Id="rId5" Type="http://schemas.openxmlformats.org/officeDocument/2006/relationships/slide" Target="slide5.xml"/><Relationship Id="rId6" Type="http://schemas.openxmlformats.org/officeDocument/2006/relationships/slide" Target="slide6.xml"/><Relationship Id="rId7" Type="http://schemas.openxmlformats.org/officeDocument/2006/relationships/slide" Target="slide7.xml"/><Relationship Id="rId8" Type="http://schemas.openxmlformats.org/officeDocument/2006/relationships/slide" Target="slide8.xml"/><Relationship Id="rId9" Type="http://schemas.openxmlformats.org/officeDocument/2006/relationships/slide" Target="slide9.xml"/><Relationship Id="rId10" Type="http://schemas.openxmlformats.org/officeDocument/2006/relationships/slide" Target="slide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hyperlink" Target="https://encryption-nonce-technology.github.io/Borlawura/" TargetMode="External"/><Relationship Id="rId4" Type="http://schemas.openxmlformats.org/officeDocument/2006/relationships/hyperlink" Target="https://encryption-nonce-technology.github.io/Borlawura/admin/login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BBF24"/>
                </a:solidFill>
                <a:latin typeface="Segoe UI"/>
              </a:defRPr>
            </a:pPr>
            <a:r>
              <a:t>GHANA'S ON-DEMAND WASTE LOGISTICS PLATFORM</a:t>
            </a:r>
          </a:p>
          <a:p>
            <a:pPr>
              <a:spcBef>
                <a:spcPts val="600"/>
              </a:spcBef>
              <a:defRPr sz="3600" b="1">
                <a:solidFill>
                  <a:srgbClr val="FFFFFF"/>
                </a:solidFill>
                <a:latin typeface="Segoe UI"/>
              </a:defRPr>
            </a:pPr>
            <a:r>
              <a:t>Borlawura Waste Connect</a:t>
            </a:r>
          </a:p>
          <a:p>
            <a:pPr>
              <a:spcBef>
                <a:spcPts val="400"/>
              </a:spcBef>
              <a:defRPr sz="1800" i="1">
                <a:solidFill>
                  <a:srgbClr val="059669"/>
                </a:solidFill>
                <a:latin typeface="Segoe UI"/>
              </a:defRPr>
            </a:pPr>
            <a:r>
              <a:t>“Snap it. Request it. It’s gone.”</a:t>
            </a:r>
          </a:p>
          <a:p>
            <a:pPr>
              <a:spcBef>
                <a:spcPts val="1400"/>
              </a:spcBef>
              <a:defRPr sz="1300">
                <a:solidFill>
                  <a:srgbClr val="CBD5E1"/>
                </a:solidFill>
                <a:latin typeface="Segoe UI"/>
              </a:defRPr>
            </a:pPr>
            <a:r>
              <a:t>The ride-hailing revolution for municipal and commercial waste management in Ghana. Connecting households and businesses with verified haulers through transparent pricing, live GPS tracking, and Mobile Money payments.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731520" y="5120640"/>
            <a:ext cx="2834640" cy="59436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Explore Interactive Hub ➔</a:t>
            </a:r>
          </a:p>
        </p:txBody>
      </p:sp>
      <p:sp>
        <p:nvSpPr>
          <p:cNvPr id="6" name="Rounded Rectangle 5">
            <a:hlinkClick r:id="rId3"/>
          </p:cNvPr>
          <p:cNvSpPr/>
          <p:nvPr/>
        </p:nvSpPr>
        <p:spPr>
          <a:xfrm>
            <a:off x="3749039" y="5120640"/>
            <a:ext cx="2651760" cy="594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BBF24"/>
                </a:solidFill>
                <a:latin typeface="Segoe UI"/>
              </a:defRPr>
            </a:pPr>
            <a:r>
              <a:t>Open Live Web App 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1005840"/>
            <a:ext cx="4572000" cy="4709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ollecto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1097280"/>
            <a:ext cx="4389120" cy="3657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949440" y="4846320"/>
            <a:ext cx="4389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Verified Borlawura Hauler — Accra, Ghana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Equipped with electric tricycle haulers &amp; sorted recyclables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28600"/>
            <a:ext cx="10728655" cy="43891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777240" y="265176"/>
            <a:ext cx="1170432" cy="365760"/>
          </a:xfrm>
          <a:prstGeom prst="roundRect">
            <a:avLst/>
          </a:prstGeom>
          <a:solidFill>
            <a:srgbClr val="059669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☖ Hub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1956816" y="265176"/>
            <a:ext cx="1170432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0">
                <a:solidFill>
                  <a:srgbClr val="0F172A"/>
                </a:solidFill>
                <a:latin typeface="Segoe UI"/>
              </a:defRPr>
            </a:pPr>
            <a:r>
              <a:t>Problem</a:t>
            </a:r>
          </a:p>
        </p:txBody>
      </p:sp>
      <p:sp>
        <p:nvSpPr>
          <p:cNvPr id="6" name="Rounded Rectangle 5">
            <a:hlinkClick action="ppaction://hlinksldjump" r:id="rId4"/>
          </p:cNvPr>
          <p:cNvSpPr/>
          <p:nvPr/>
        </p:nvSpPr>
        <p:spPr>
          <a:xfrm>
            <a:off x="3136392" y="265176"/>
            <a:ext cx="1170432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0">
                <a:solidFill>
                  <a:srgbClr val="0F172A"/>
                </a:solidFill>
                <a:latin typeface="Segoe UI"/>
              </a:defRPr>
            </a:pPr>
            <a:r>
              <a:t>Customer App</a:t>
            </a:r>
          </a:p>
        </p:txBody>
      </p:sp>
      <p:sp>
        <p:nvSpPr>
          <p:cNvPr id="7" name="Rounded Rectangle 6">
            <a:hlinkClick action="ppaction://hlinksldjump" r:id="rId5"/>
          </p:cNvPr>
          <p:cNvSpPr/>
          <p:nvPr/>
        </p:nvSpPr>
        <p:spPr>
          <a:xfrm>
            <a:off x="4315968" y="265176"/>
            <a:ext cx="1170432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0">
                <a:solidFill>
                  <a:srgbClr val="0F172A"/>
                </a:solidFill>
                <a:latin typeface="Segoe UI"/>
              </a:defRPr>
            </a:pPr>
            <a:r>
              <a:t>Collector App</a:t>
            </a:r>
          </a:p>
        </p:txBody>
      </p:sp>
      <p:sp>
        <p:nvSpPr>
          <p:cNvPr id="8" name="Rounded Rectangle 7">
            <a:hlinkClick action="ppaction://hlinksldjump" r:id="rId6"/>
          </p:cNvPr>
          <p:cNvSpPr/>
          <p:nvPr/>
        </p:nvSpPr>
        <p:spPr>
          <a:xfrm>
            <a:off x="5495544" y="265176"/>
            <a:ext cx="1170432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0">
                <a:solidFill>
                  <a:srgbClr val="0F172A"/>
                </a:solidFill>
                <a:latin typeface="Segoe UI"/>
              </a:defRPr>
            </a:pPr>
            <a:r>
              <a:t>Admin CMS</a:t>
            </a:r>
          </a:p>
        </p:txBody>
      </p:sp>
      <p:sp>
        <p:nvSpPr>
          <p:cNvPr id="9" name="Rounded Rectangle 8">
            <a:hlinkClick action="ppaction://hlinksldjump" r:id="rId7"/>
          </p:cNvPr>
          <p:cNvSpPr/>
          <p:nvPr/>
        </p:nvSpPr>
        <p:spPr>
          <a:xfrm>
            <a:off x="6675120" y="265176"/>
            <a:ext cx="1170432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0">
                <a:solidFill>
                  <a:srgbClr val="0F172A"/>
                </a:solidFill>
                <a:latin typeface="Segoe UI"/>
              </a:defRPr>
            </a:pPr>
            <a:r>
              <a:t>Economics</a:t>
            </a:r>
          </a:p>
        </p:txBody>
      </p:sp>
      <p:sp>
        <p:nvSpPr>
          <p:cNvPr id="10" name="Rounded Rectangle 9">
            <a:hlinkClick action="ppaction://hlinksldjump" r:id="rId8"/>
          </p:cNvPr>
          <p:cNvSpPr/>
          <p:nvPr/>
        </p:nvSpPr>
        <p:spPr>
          <a:xfrm>
            <a:off x="7854696" y="265176"/>
            <a:ext cx="1170432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0">
                <a:solidFill>
                  <a:srgbClr val="0F172A"/>
                </a:solidFill>
                <a:latin typeface="Segoe UI"/>
              </a:defRPr>
            </a:pPr>
            <a:r>
              <a:t>ESG Impact</a:t>
            </a:r>
          </a:p>
        </p:txBody>
      </p:sp>
      <p:sp>
        <p:nvSpPr>
          <p:cNvPr id="11" name="Rounded Rectangle 10">
            <a:hlinkClick action="ppaction://hlinksldjump" r:id="rId9"/>
          </p:cNvPr>
          <p:cNvSpPr/>
          <p:nvPr/>
        </p:nvSpPr>
        <p:spPr>
          <a:xfrm>
            <a:off x="9034272" y="265176"/>
            <a:ext cx="1170432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0">
                <a:solidFill>
                  <a:srgbClr val="0F172A"/>
                </a:solidFill>
                <a:latin typeface="Segoe UI"/>
              </a:defRPr>
            </a:pPr>
            <a:r>
              <a:t>Tech Stack</a:t>
            </a:r>
          </a:p>
        </p:txBody>
      </p:sp>
      <p:sp>
        <p:nvSpPr>
          <p:cNvPr id="12" name="Rounded Rectangle 11">
            <a:hlinkClick action="ppaction://hlinksldjump" r:id="rId10"/>
          </p:cNvPr>
          <p:cNvSpPr/>
          <p:nvPr/>
        </p:nvSpPr>
        <p:spPr>
          <a:xfrm>
            <a:off x="10213848" y="265176"/>
            <a:ext cx="1170432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0">
                <a:solidFill>
                  <a:srgbClr val="0F172A"/>
                </a:solidFill>
                <a:latin typeface="Segoe UI"/>
              </a:defRPr>
            </a:pPr>
            <a:r>
              <a:t>Roadmap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777240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Segoe UI"/>
              </a:defRPr>
            </a:pPr>
            <a:r>
              <a:t>PLATFORM DIRECTORY</a:t>
            </a:r>
          </a:p>
          <a:p>
            <a:pPr>
              <a:spcBef>
                <a:spcPts val="200"/>
              </a:spcBef>
              <a:defRPr sz="2200" b="1">
                <a:solidFill>
                  <a:srgbClr val="0F172A"/>
                </a:solidFill>
                <a:latin typeface="Segoe UI"/>
              </a:defRPr>
            </a:pPr>
            <a:r>
              <a:t>Interactive Presentation Hub</a:t>
            </a:r>
          </a:p>
          <a:p>
            <a:pPr>
              <a:spcBef>
                <a:spcPts val="200"/>
              </a:spcBef>
              <a:defRPr sz="1150">
                <a:solidFill>
                  <a:srgbClr val="64748B"/>
                </a:solidFill>
                <a:latin typeface="Segoe UI"/>
              </a:defRPr>
            </a:pPr>
            <a:r>
              <a:t>Click on any module tile below to jump directly to that section</a:t>
            </a:r>
          </a:p>
        </p:txBody>
      </p:sp>
      <p:sp>
        <p:nvSpPr>
          <p:cNvPr id="14" name="Rounded Rectangle 13">
            <a:hlinkClick action="ppaction://hlinksldjump" r:id="rId3"/>
          </p:cNvPr>
          <p:cNvSpPr/>
          <p:nvPr/>
        </p:nvSpPr>
        <p:spPr>
          <a:xfrm>
            <a:off x="731520" y="1737360"/>
            <a:ext cx="3474720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>
            <a:hlinkClick action="ppaction://hlinksldjump" r:id="rId3"/>
          </p:cNvPr>
          <p:cNvSpPr/>
          <p:nvPr/>
        </p:nvSpPr>
        <p:spPr>
          <a:xfrm>
            <a:off x="731520" y="1737360"/>
            <a:ext cx="3474720" cy="9144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1901952"/>
            <a:ext cx="31089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4E3B"/>
                </a:solidFill>
              </a:defRPr>
            </a:pPr>
            <a:r>
              <a:t>⚠ THE CHALLENGE</a:t>
            </a:r>
          </a:p>
          <a:p>
            <a:pPr>
              <a:spcBef>
                <a:spcPts val="300"/>
              </a:spcBef>
              <a:defRPr sz="1400" b="1">
                <a:solidFill>
                  <a:srgbClr val="0F172A"/>
                </a:solidFill>
              </a:defRPr>
            </a:pPr>
            <a:r>
              <a:t>The Problem &amp; Context</a:t>
            </a:r>
          </a:p>
          <a:p>
            <a:pPr>
              <a:spcBef>
                <a:spcPts val="400"/>
              </a:spcBef>
              <a:defRPr sz="1050">
                <a:solidFill>
                  <a:srgbClr val="64748B"/>
                </a:solidFill>
              </a:defRPr>
            </a:pPr>
            <a:r>
              <a:t>Municipal waste bottlenecks, burning, &amp; informal hauler hurdles</a:t>
            </a:r>
          </a:p>
          <a:p>
            <a:pPr>
              <a:spcBef>
                <a:spcPts val="800"/>
              </a:spcBef>
              <a:defRPr sz="1000" b="1">
                <a:solidFill>
                  <a:srgbClr val="059669"/>
                </a:solidFill>
              </a:defRPr>
            </a:pPr>
            <a:r>
              <a:t>Click to View Section ➔</a:t>
            </a:r>
          </a:p>
        </p:txBody>
      </p:sp>
      <p:sp>
        <p:nvSpPr>
          <p:cNvPr id="17" name="Rounded Rectangle 16">
            <a:hlinkClick action="ppaction://hlinksldjump" r:id="rId4"/>
          </p:cNvPr>
          <p:cNvSpPr/>
          <p:nvPr/>
        </p:nvSpPr>
        <p:spPr>
          <a:xfrm>
            <a:off x="4343400" y="1737360"/>
            <a:ext cx="3474720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>
            <a:hlinkClick action="ppaction://hlinksldjump" r:id="rId4"/>
          </p:cNvPr>
          <p:cNvSpPr/>
          <p:nvPr/>
        </p:nvSpPr>
        <p:spPr>
          <a:xfrm>
            <a:off x="4343400" y="1737360"/>
            <a:ext cx="3474720" cy="91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1901952"/>
            <a:ext cx="31089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59669"/>
                </a:solidFill>
              </a:defRPr>
            </a:pPr>
            <a:r>
              <a:t>📱 CUSTOMER VIEW</a:t>
            </a:r>
          </a:p>
          <a:p>
            <a:pPr>
              <a:spcBef>
                <a:spcPts val="300"/>
              </a:spcBef>
              <a:defRPr sz="1400" b="1">
                <a:solidFill>
                  <a:srgbClr val="0F172A"/>
                </a:solidFill>
              </a:defRPr>
            </a:pPr>
            <a:r>
              <a:t>Customer Mobile App</a:t>
            </a:r>
          </a:p>
          <a:p>
            <a:pPr>
              <a:spcBef>
                <a:spcPts val="400"/>
              </a:spcBef>
              <a:defRPr sz="1050">
                <a:solidFill>
                  <a:srgbClr val="64748B"/>
                </a:solidFill>
              </a:defRPr>
            </a:pPr>
            <a:r>
              <a:t>3-step request flow, waste photo AI, &amp; live GPS tracking</a:t>
            </a:r>
          </a:p>
          <a:p>
            <a:pPr>
              <a:spcBef>
                <a:spcPts val="800"/>
              </a:spcBef>
              <a:defRPr sz="1000" b="1">
                <a:solidFill>
                  <a:srgbClr val="059669"/>
                </a:solidFill>
              </a:defRPr>
            </a:pPr>
            <a:r>
              <a:t>Click to View Section ➔</a:t>
            </a:r>
          </a:p>
        </p:txBody>
      </p:sp>
      <p:sp>
        <p:nvSpPr>
          <p:cNvPr id="20" name="Rounded Rectangle 19">
            <a:hlinkClick action="ppaction://hlinksldjump" r:id="rId5"/>
          </p:cNvPr>
          <p:cNvSpPr/>
          <p:nvPr/>
        </p:nvSpPr>
        <p:spPr>
          <a:xfrm>
            <a:off x="7955280" y="1737360"/>
            <a:ext cx="3474720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>
            <a:hlinkClick action="ppaction://hlinksldjump" r:id="rId5"/>
          </p:cNvPr>
          <p:cNvSpPr/>
          <p:nvPr/>
        </p:nvSpPr>
        <p:spPr>
          <a:xfrm>
            <a:off x="7955280" y="1737360"/>
            <a:ext cx="3474720" cy="91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0" y="1901952"/>
            <a:ext cx="31089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🚚 COLLECTOR VIEW</a:t>
            </a:r>
          </a:p>
          <a:p>
            <a:pPr>
              <a:spcBef>
                <a:spcPts val="300"/>
              </a:spcBef>
              <a:defRPr sz="1400" b="1">
                <a:solidFill>
                  <a:srgbClr val="0F172A"/>
                </a:solidFill>
              </a:defRPr>
            </a:pPr>
            <a:r>
              <a:t>Collector Driver App</a:t>
            </a:r>
          </a:p>
          <a:p>
            <a:pPr>
              <a:spcBef>
                <a:spcPts val="400"/>
              </a:spcBef>
              <a:defRPr sz="1050">
                <a:solidFill>
                  <a:srgbClr val="64748B"/>
                </a:solidFill>
              </a:defRPr>
            </a:pPr>
            <a:r>
              <a:t>Online job alerts, navigation, photo proof, &amp; MoMo wallet</a:t>
            </a:r>
          </a:p>
          <a:p>
            <a:pPr>
              <a:spcBef>
                <a:spcPts val="800"/>
              </a:spcBef>
              <a:defRPr sz="1000" b="1">
                <a:solidFill>
                  <a:srgbClr val="059669"/>
                </a:solidFill>
              </a:defRPr>
            </a:pPr>
            <a:r>
              <a:t>Click to View Section ➔</a:t>
            </a:r>
          </a:p>
        </p:txBody>
      </p:sp>
      <p:sp>
        <p:nvSpPr>
          <p:cNvPr id="23" name="Rounded Rectangle 22">
            <a:hlinkClick action="ppaction://hlinksldjump" r:id="rId6"/>
          </p:cNvPr>
          <p:cNvSpPr/>
          <p:nvPr/>
        </p:nvSpPr>
        <p:spPr>
          <a:xfrm>
            <a:off x="731520" y="3886200"/>
            <a:ext cx="3474720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>
            <a:hlinkClick action="ppaction://hlinksldjump" r:id="rId6"/>
          </p:cNvPr>
          <p:cNvSpPr/>
          <p:nvPr/>
        </p:nvSpPr>
        <p:spPr>
          <a:xfrm>
            <a:off x="731520" y="3886200"/>
            <a:ext cx="3474720" cy="914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050792"/>
            <a:ext cx="31089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🖥 OPERATIONS CMS</a:t>
            </a:r>
          </a:p>
          <a:p>
            <a:pPr>
              <a:spcBef>
                <a:spcPts val="300"/>
              </a:spcBef>
              <a:defRPr sz="1400" b="1">
                <a:solidFill>
                  <a:srgbClr val="0F172A"/>
                </a:solidFill>
              </a:defRPr>
            </a:pPr>
            <a:r>
              <a:t>Admin &amp; Operations CMS</a:t>
            </a:r>
          </a:p>
          <a:p>
            <a:pPr>
              <a:spcBef>
                <a:spcPts val="400"/>
              </a:spcBef>
              <a:defRPr sz="1050">
                <a:solidFill>
                  <a:srgbClr val="64748B"/>
                </a:solidFill>
              </a:defRPr>
            </a:pPr>
            <a:r>
              <a:t>City fleet command center, KYC verification, &amp; pricing engine</a:t>
            </a:r>
          </a:p>
          <a:p>
            <a:pPr>
              <a:spcBef>
                <a:spcPts val="800"/>
              </a:spcBef>
              <a:defRPr sz="1000" b="1">
                <a:solidFill>
                  <a:srgbClr val="059669"/>
                </a:solidFill>
              </a:defRPr>
            </a:pPr>
            <a:r>
              <a:t>Click to View Section ➔</a:t>
            </a:r>
          </a:p>
        </p:txBody>
      </p:sp>
      <p:sp>
        <p:nvSpPr>
          <p:cNvPr id="26" name="Rounded Rectangle 25">
            <a:hlinkClick action="ppaction://hlinksldjump" r:id="rId7"/>
          </p:cNvPr>
          <p:cNvSpPr/>
          <p:nvPr/>
        </p:nvSpPr>
        <p:spPr>
          <a:xfrm>
            <a:off x="4343400" y="3886200"/>
            <a:ext cx="3474720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>
            <a:hlinkClick action="ppaction://hlinksldjump" r:id="rId7"/>
          </p:cNvPr>
          <p:cNvSpPr/>
          <p:nvPr/>
        </p:nvSpPr>
        <p:spPr>
          <a:xfrm>
            <a:off x="4343400" y="3886200"/>
            <a:ext cx="3474720" cy="9144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26280" y="4050792"/>
            <a:ext cx="31089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4E3B"/>
                </a:solidFill>
              </a:defRPr>
            </a:pPr>
            <a:r>
              <a:t>₵ ECONOMICS</a:t>
            </a:r>
          </a:p>
          <a:p>
            <a:pPr>
              <a:spcBef>
                <a:spcPts val="300"/>
              </a:spcBef>
              <a:defRPr sz="1400" b="1">
                <a:solidFill>
                  <a:srgbClr val="0F172A"/>
                </a:solidFill>
              </a:defRPr>
            </a:pPr>
            <a:r>
              <a:t>Tariff &amp; Business Model</a:t>
            </a:r>
          </a:p>
          <a:p>
            <a:pPr>
              <a:spcBef>
                <a:spcPts val="400"/>
              </a:spcBef>
              <a:defRPr sz="1050">
                <a:solidFill>
                  <a:srgbClr val="64748B"/>
                </a:solidFill>
              </a:defRPr>
            </a:pPr>
            <a:r>
              <a:t>Transparent formula in ₵ &amp; 4 scalable marketplace revenue streams</a:t>
            </a:r>
          </a:p>
          <a:p>
            <a:pPr>
              <a:spcBef>
                <a:spcPts val="800"/>
              </a:spcBef>
              <a:defRPr sz="1000" b="1">
                <a:solidFill>
                  <a:srgbClr val="059669"/>
                </a:solidFill>
              </a:defRPr>
            </a:pPr>
            <a:r>
              <a:t>Click to View Section ➔</a:t>
            </a:r>
          </a:p>
        </p:txBody>
      </p:sp>
      <p:sp>
        <p:nvSpPr>
          <p:cNvPr id="29" name="Rounded Rectangle 28">
            <a:hlinkClick action="ppaction://hlinksldjump" r:id="rId8"/>
          </p:cNvPr>
          <p:cNvSpPr/>
          <p:nvPr/>
        </p:nvSpPr>
        <p:spPr>
          <a:xfrm>
            <a:off x="7955280" y="3886200"/>
            <a:ext cx="3474720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>
            <a:hlinkClick action="ppaction://hlinksldjump" r:id="rId8"/>
          </p:cNvPr>
          <p:cNvSpPr/>
          <p:nvPr/>
        </p:nvSpPr>
        <p:spPr>
          <a:xfrm>
            <a:off x="7955280" y="3886200"/>
            <a:ext cx="3474720" cy="91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38160" y="4050792"/>
            <a:ext cx="31089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59669"/>
                </a:solidFill>
              </a:defRPr>
            </a:pPr>
            <a:r>
              <a:t>🌱 ESG &amp; CLIMATE</a:t>
            </a:r>
          </a:p>
          <a:p>
            <a:pPr>
              <a:spcBef>
                <a:spcPts val="300"/>
              </a:spcBef>
              <a:defRPr sz="1400" b="1">
                <a:solidFill>
                  <a:srgbClr val="0F172A"/>
                </a:solidFill>
              </a:defRPr>
            </a:pPr>
            <a:r>
              <a:t>Environmental ESG Impact</a:t>
            </a:r>
          </a:p>
          <a:p>
            <a:pPr>
              <a:spcBef>
                <a:spcPts val="400"/>
              </a:spcBef>
              <a:defRPr sz="1050">
                <a:solidFill>
                  <a:srgbClr val="64748B"/>
                </a:solidFill>
              </a:defRPr>
            </a:pPr>
            <a:r>
              <a:t>Cleaner communities, flood mitigation, &amp; dignified green jobs</a:t>
            </a:r>
          </a:p>
          <a:p>
            <a:pPr>
              <a:spcBef>
                <a:spcPts val="800"/>
              </a:spcBef>
              <a:defRPr sz="1000" b="1">
                <a:solidFill>
                  <a:srgbClr val="059669"/>
                </a:solidFill>
              </a:defRPr>
            </a:pPr>
            <a:r>
              <a:t>Click to View Section ➔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6035040"/>
            <a:ext cx="10698480" cy="594360"/>
          </a:xfrm>
          <a:prstGeom prst="roundRect">
            <a:avLst/>
          </a:prstGeom>
          <a:solidFill>
            <a:srgbClr val="D1FAE5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608076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64E3B"/>
                </a:solidFill>
              </a:defRPr>
            </a:pPr>
            <a:r>
              <a:t>⚡ Key Highlights:  Average Match Time: 3 mins   |   1,240+ Verified Haulers   |   98% On-Time Pickups   |   Zero Bank Account Needed (100% MoMo)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28600"/>
            <a:ext cx="10728655" cy="43891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777240" y="265176"/>
            <a:ext cx="1170432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0">
                <a:solidFill>
                  <a:srgbClr val="0F172A"/>
                </a:solidFill>
                <a:latin typeface="Segoe UI"/>
              </a:defRPr>
            </a:pPr>
            <a:r>
              <a:t>☖ Hub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1956816" y="265176"/>
            <a:ext cx="1170432" cy="365760"/>
          </a:xfrm>
          <a:prstGeom prst="roundRect">
            <a:avLst/>
          </a:prstGeom>
          <a:solidFill>
            <a:srgbClr val="059669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Problem</a:t>
            </a:r>
          </a:p>
        </p:txBody>
      </p:sp>
      <p:sp>
        <p:nvSpPr>
          <p:cNvPr id="6" name="Rounded Rectangle 5">
            <a:hlinkClick action="ppaction://hlinksldjump" r:id="rId4"/>
          </p:cNvPr>
          <p:cNvSpPr/>
          <p:nvPr/>
        </p:nvSpPr>
        <p:spPr>
          <a:xfrm>
            <a:off x="3136392" y="265176"/>
            <a:ext cx="1170432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0">
                <a:solidFill>
                  <a:srgbClr val="0F172A"/>
                </a:solidFill>
                <a:latin typeface="Segoe UI"/>
              </a:defRPr>
            </a:pPr>
            <a:r>
              <a:t>Customer App</a:t>
            </a:r>
          </a:p>
        </p:txBody>
      </p:sp>
      <p:sp>
        <p:nvSpPr>
          <p:cNvPr id="7" name="Rounded Rectangle 6">
            <a:hlinkClick action="ppaction://hlinksldjump" r:id="rId5"/>
          </p:cNvPr>
          <p:cNvSpPr/>
          <p:nvPr/>
        </p:nvSpPr>
        <p:spPr>
          <a:xfrm>
            <a:off x="4315968" y="265176"/>
            <a:ext cx="1170432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0">
                <a:solidFill>
                  <a:srgbClr val="0F172A"/>
                </a:solidFill>
                <a:latin typeface="Segoe UI"/>
              </a:defRPr>
            </a:pPr>
            <a:r>
              <a:t>Collector App</a:t>
            </a:r>
          </a:p>
        </p:txBody>
      </p:sp>
      <p:sp>
        <p:nvSpPr>
          <p:cNvPr id="8" name="Rounded Rectangle 7">
            <a:hlinkClick action="ppaction://hlinksldjump" r:id="rId6"/>
          </p:cNvPr>
          <p:cNvSpPr/>
          <p:nvPr/>
        </p:nvSpPr>
        <p:spPr>
          <a:xfrm>
            <a:off x="5495544" y="265176"/>
            <a:ext cx="1170432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0">
                <a:solidFill>
                  <a:srgbClr val="0F172A"/>
                </a:solidFill>
                <a:latin typeface="Segoe UI"/>
              </a:defRPr>
            </a:pPr>
            <a:r>
              <a:t>Admin CMS</a:t>
            </a:r>
          </a:p>
        </p:txBody>
      </p:sp>
      <p:sp>
        <p:nvSpPr>
          <p:cNvPr id="9" name="Rounded Rectangle 8">
            <a:hlinkClick action="ppaction://hlinksldjump" r:id="rId7"/>
          </p:cNvPr>
          <p:cNvSpPr/>
          <p:nvPr/>
        </p:nvSpPr>
        <p:spPr>
          <a:xfrm>
            <a:off x="6675120" y="265176"/>
            <a:ext cx="1170432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0">
                <a:solidFill>
                  <a:srgbClr val="0F172A"/>
                </a:solidFill>
                <a:latin typeface="Segoe UI"/>
              </a:defRPr>
            </a:pPr>
            <a:r>
              <a:t>Economics</a:t>
            </a:r>
          </a:p>
        </p:txBody>
      </p:sp>
      <p:sp>
        <p:nvSpPr>
          <p:cNvPr id="10" name="Rounded Rectangle 9">
            <a:hlinkClick action="ppaction://hlinksldjump" r:id="rId8"/>
          </p:cNvPr>
          <p:cNvSpPr/>
          <p:nvPr/>
        </p:nvSpPr>
        <p:spPr>
          <a:xfrm>
            <a:off x="7854696" y="265176"/>
            <a:ext cx="1170432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0">
                <a:solidFill>
                  <a:srgbClr val="0F172A"/>
                </a:solidFill>
                <a:latin typeface="Segoe UI"/>
              </a:defRPr>
            </a:pPr>
            <a:r>
              <a:t>ESG Impact</a:t>
            </a:r>
          </a:p>
        </p:txBody>
      </p:sp>
      <p:sp>
        <p:nvSpPr>
          <p:cNvPr id="11" name="Rounded Rectangle 10">
            <a:hlinkClick action="ppaction://hlinksldjump" r:id="rId9"/>
          </p:cNvPr>
          <p:cNvSpPr/>
          <p:nvPr/>
        </p:nvSpPr>
        <p:spPr>
          <a:xfrm>
            <a:off x="9034272" y="265176"/>
            <a:ext cx="1170432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0">
                <a:solidFill>
                  <a:srgbClr val="0F172A"/>
                </a:solidFill>
                <a:latin typeface="Segoe UI"/>
              </a:defRPr>
            </a:pPr>
            <a:r>
              <a:t>Tech Stack</a:t>
            </a:r>
          </a:p>
        </p:txBody>
      </p:sp>
      <p:sp>
        <p:nvSpPr>
          <p:cNvPr id="12" name="Rounded Rectangle 11">
            <a:hlinkClick action="ppaction://hlinksldjump" r:id="rId10"/>
          </p:cNvPr>
          <p:cNvSpPr/>
          <p:nvPr/>
        </p:nvSpPr>
        <p:spPr>
          <a:xfrm>
            <a:off x="10213848" y="265176"/>
            <a:ext cx="1170432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0">
                <a:solidFill>
                  <a:srgbClr val="0F172A"/>
                </a:solidFill>
                <a:latin typeface="Segoe UI"/>
              </a:defRPr>
            </a:pPr>
            <a:r>
              <a:t>Roadmap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777240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Segoe UI"/>
              </a:defRPr>
            </a:pPr>
            <a:r>
              <a:t>THE OPPORTUNITY</a:t>
            </a:r>
          </a:p>
          <a:p>
            <a:pPr>
              <a:spcBef>
                <a:spcPts val="200"/>
              </a:spcBef>
              <a:defRPr sz="2200" b="1">
                <a:solidFill>
                  <a:srgbClr val="0F172A"/>
                </a:solidFill>
                <a:latin typeface="Segoe UI"/>
              </a:defRPr>
            </a:pPr>
            <a:r>
              <a:t>Transforming Urban Waste Management in Ghana</a:t>
            </a:r>
          </a:p>
          <a:p>
            <a:pPr>
              <a:spcBef>
                <a:spcPts val="200"/>
              </a:spcBef>
              <a:defRPr sz="1150">
                <a:solidFill>
                  <a:srgbClr val="64748B"/>
                </a:solidFill>
                <a:latin typeface="Segoe UI"/>
              </a:defRPr>
            </a:pPr>
            <a:r>
              <a:t>Bridging the critical gap between uncollected urban waste and informal collector livelihoods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691640"/>
            <a:ext cx="5212080" cy="466344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1874519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C2626"/>
                </a:solidFill>
              </a:defRPr>
            </a:pPr>
            <a:r>
              <a:t>THE PROBLEM WE SOLVE</a:t>
            </a:r>
          </a:p>
          <a:p>
            <a:pPr>
              <a:spcBef>
                <a:spcPts val="400"/>
              </a:spcBef>
              <a:defRPr sz="1800" b="1">
                <a:solidFill>
                  <a:srgbClr val="0F172A"/>
                </a:solidFill>
              </a:defRPr>
            </a:pPr>
            <a:r>
              <a:t>Urban Bottlenecks &amp; Inefficiencies</a:t>
            </a:r>
          </a:p>
          <a:p>
            <a:pPr>
              <a:spcBef>
                <a:spcPts val="1000"/>
              </a:spcBef>
            </a:pPr>
            <a:r>
              <a:rPr b="1" sz="1150">
                <a:solidFill>
                  <a:srgbClr val="0F172A"/>
                </a:solidFill>
              </a:rPr>
              <a:t>• Irregular municipal rounds: </a:t>
            </a:r>
            <a:r>
              <a:rPr sz="1100">
                <a:solidFill>
                  <a:srgbClr val="64748B"/>
                </a:solidFill>
              </a:rPr>
              <a:t>Households wait weeks for scheduled waste trucks, causing unpleasant overflow, odor, and roadside dumping.</a:t>
            </a:r>
          </a:p>
          <a:p>
            <a:pPr>
              <a:spcBef>
                <a:spcPts val="1000"/>
              </a:spcBef>
            </a:pPr>
            <a:r>
              <a:rPr b="1" sz="1150">
                <a:solidFill>
                  <a:srgbClr val="0F172A"/>
                </a:solidFill>
              </a:rPr>
              <a:t>• Opaque, arbitrary cash pricing: </a:t>
            </a:r>
            <a:r>
              <a:rPr sz="1100">
                <a:solidFill>
                  <a:srgbClr val="64748B"/>
                </a:solidFill>
              </a:rPr>
              <a:t>Informal 'aboboyaa' haulers charge inconsistent prices with zero transparency or receipts.</a:t>
            </a:r>
          </a:p>
          <a:p>
            <a:pPr>
              <a:spcBef>
                <a:spcPts val="1000"/>
              </a:spcBef>
            </a:pPr>
            <a:r>
              <a:rPr b="1" sz="1150">
                <a:solidFill>
                  <a:srgbClr val="0F172A"/>
                </a:solidFill>
              </a:rPr>
              <a:t>• Open air burning &amp; hazards: </a:t>
            </a:r>
            <a:r>
              <a:rPr sz="1100">
                <a:solidFill>
                  <a:srgbClr val="64748B"/>
                </a:solidFill>
              </a:rPr>
              <a:t>Desperate communities burn mixed plastics, emitting carcinogens and hazardous fumes.</a:t>
            </a:r>
          </a:p>
          <a:p>
            <a:pPr>
              <a:spcBef>
                <a:spcPts val="1000"/>
              </a:spcBef>
            </a:pPr>
            <a:r>
              <a:rPr b="1" sz="1150">
                <a:solidFill>
                  <a:srgbClr val="0F172A"/>
                </a:solidFill>
              </a:rPr>
              <a:t>• Collector fuel &amp; time loss: </a:t>
            </a:r>
            <a:r>
              <a:rPr sz="1100">
                <a:solidFill>
                  <a:srgbClr val="64748B"/>
                </a:solidFill>
              </a:rPr>
              <a:t>Informal haulers waste up to 40% of their day roving streets searching blindly for customers.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691640"/>
            <a:ext cx="5212080" cy="466344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874519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THE BORLAWURA DIGITAL SOLUTION</a:t>
            </a:r>
          </a:p>
          <a:p>
            <a:pPr>
              <a:spcBef>
                <a:spcPts val="400"/>
              </a:spcBef>
              <a:defRPr sz="1800" b="1">
                <a:solidFill>
                  <a:srgbClr val="0F172A"/>
                </a:solidFill>
              </a:defRPr>
            </a:pPr>
            <a:r>
              <a:t>Tech-Enabled Waste Logistics</a:t>
            </a:r>
          </a:p>
          <a:p>
            <a:pPr>
              <a:spcBef>
                <a:spcPts val="1000"/>
              </a:spcBef>
            </a:pPr>
            <a:r>
              <a:rPr b="1" sz="1150">
                <a:solidFill>
                  <a:srgbClr val="064E3B"/>
                </a:solidFill>
              </a:rPr>
              <a:t>✔ On-Demand Uber-style dispatch: </a:t>
            </a:r>
            <a:r>
              <a:rPr sz="1100">
                <a:solidFill>
                  <a:srgbClr val="64748B"/>
                </a:solidFill>
              </a:rPr>
              <a:t>Nearby collectors are matched instantly via GPS proximity and capacity.</a:t>
            </a:r>
          </a:p>
          <a:p>
            <a:pPr>
              <a:spcBef>
                <a:spcPts val="1000"/>
              </a:spcBef>
            </a:pPr>
            <a:r>
              <a:rPr b="1" sz="1150">
                <a:solidFill>
                  <a:srgbClr val="064E3B"/>
                </a:solidFill>
              </a:rPr>
              <a:t>✔ Transparent Ghana Cedi pricing: </a:t>
            </a:r>
            <a:r>
              <a:rPr sz="1100">
                <a:solidFill>
                  <a:srgbClr val="64748B"/>
                </a:solidFill>
              </a:rPr>
              <a:t>Algorithmic pricing based on base fee, volume, waste type, and distance.</a:t>
            </a:r>
          </a:p>
          <a:p>
            <a:pPr>
              <a:spcBef>
                <a:spcPts val="1000"/>
              </a:spcBef>
            </a:pPr>
            <a:r>
              <a:rPr b="1" sz="1150">
                <a:solidFill>
                  <a:srgbClr val="064E3B"/>
                </a:solidFill>
              </a:rPr>
              <a:t>✔ Mandatory photo proof of work: </a:t>
            </a:r>
            <a:r>
              <a:rPr sz="1100">
                <a:solidFill>
                  <a:srgbClr val="64748B"/>
                </a:solidFill>
              </a:rPr>
              <a:t>Pre-pickup waste photos and post-collection disposal verification guarantee accountability.</a:t>
            </a:r>
          </a:p>
          <a:p>
            <a:pPr>
              <a:spcBef>
                <a:spcPts val="1000"/>
              </a:spcBef>
            </a:pPr>
            <a:r>
              <a:rPr b="1" sz="1150">
                <a:solidFill>
                  <a:srgbClr val="064E3B"/>
                </a:solidFill>
              </a:rPr>
              <a:t>✔ Mobile Money financial inclusion: </a:t>
            </a:r>
            <a:r>
              <a:rPr sz="1100">
                <a:solidFill>
                  <a:srgbClr val="64748B"/>
                </a:solidFill>
              </a:rPr>
              <a:t>100% cashless flow with MTN MoMo, Telecel Cash, and AirtelTigo for seamless instant payouts.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28600"/>
            <a:ext cx="10728655" cy="43891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777240" y="265176"/>
            <a:ext cx="1170432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0">
                <a:solidFill>
                  <a:srgbClr val="0F172A"/>
                </a:solidFill>
                <a:latin typeface="Segoe UI"/>
              </a:defRPr>
            </a:pPr>
            <a:r>
              <a:t>☖ Hub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1956816" y="265176"/>
            <a:ext cx="1170432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0">
                <a:solidFill>
                  <a:srgbClr val="0F172A"/>
                </a:solidFill>
                <a:latin typeface="Segoe UI"/>
              </a:defRPr>
            </a:pPr>
            <a:r>
              <a:t>Problem</a:t>
            </a:r>
          </a:p>
        </p:txBody>
      </p:sp>
      <p:sp>
        <p:nvSpPr>
          <p:cNvPr id="6" name="Rounded Rectangle 5">
            <a:hlinkClick action="ppaction://hlinksldjump" r:id="rId4"/>
          </p:cNvPr>
          <p:cNvSpPr/>
          <p:nvPr/>
        </p:nvSpPr>
        <p:spPr>
          <a:xfrm>
            <a:off x="3136392" y="265176"/>
            <a:ext cx="1170432" cy="365760"/>
          </a:xfrm>
          <a:prstGeom prst="roundRect">
            <a:avLst/>
          </a:prstGeom>
          <a:solidFill>
            <a:srgbClr val="059669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Customer App</a:t>
            </a:r>
          </a:p>
        </p:txBody>
      </p:sp>
      <p:sp>
        <p:nvSpPr>
          <p:cNvPr id="7" name="Rounded Rectangle 6">
            <a:hlinkClick action="ppaction://hlinksldjump" r:id="rId5"/>
          </p:cNvPr>
          <p:cNvSpPr/>
          <p:nvPr/>
        </p:nvSpPr>
        <p:spPr>
          <a:xfrm>
            <a:off x="4315968" y="265176"/>
            <a:ext cx="1170432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0">
                <a:solidFill>
                  <a:srgbClr val="0F172A"/>
                </a:solidFill>
                <a:latin typeface="Segoe UI"/>
              </a:defRPr>
            </a:pPr>
            <a:r>
              <a:t>Collector App</a:t>
            </a:r>
          </a:p>
        </p:txBody>
      </p:sp>
      <p:sp>
        <p:nvSpPr>
          <p:cNvPr id="8" name="Rounded Rectangle 7">
            <a:hlinkClick action="ppaction://hlinksldjump" r:id="rId6"/>
          </p:cNvPr>
          <p:cNvSpPr/>
          <p:nvPr/>
        </p:nvSpPr>
        <p:spPr>
          <a:xfrm>
            <a:off x="5495544" y="265176"/>
            <a:ext cx="1170432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0">
                <a:solidFill>
                  <a:srgbClr val="0F172A"/>
                </a:solidFill>
                <a:latin typeface="Segoe UI"/>
              </a:defRPr>
            </a:pPr>
            <a:r>
              <a:t>Admin CMS</a:t>
            </a:r>
          </a:p>
        </p:txBody>
      </p:sp>
      <p:sp>
        <p:nvSpPr>
          <p:cNvPr id="9" name="Rounded Rectangle 8">
            <a:hlinkClick action="ppaction://hlinksldjump" r:id="rId7"/>
          </p:cNvPr>
          <p:cNvSpPr/>
          <p:nvPr/>
        </p:nvSpPr>
        <p:spPr>
          <a:xfrm>
            <a:off x="6675120" y="265176"/>
            <a:ext cx="1170432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0">
                <a:solidFill>
                  <a:srgbClr val="0F172A"/>
                </a:solidFill>
                <a:latin typeface="Segoe UI"/>
              </a:defRPr>
            </a:pPr>
            <a:r>
              <a:t>Economics</a:t>
            </a:r>
          </a:p>
        </p:txBody>
      </p:sp>
      <p:sp>
        <p:nvSpPr>
          <p:cNvPr id="10" name="Rounded Rectangle 9">
            <a:hlinkClick action="ppaction://hlinksldjump" r:id="rId8"/>
          </p:cNvPr>
          <p:cNvSpPr/>
          <p:nvPr/>
        </p:nvSpPr>
        <p:spPr>
          <a:xfrm>
            <a:off x="7854696" y="265176"/>
            <a:ext cx="1170432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0">
                <a:solidFill>
                  <a:srgbClr val="0F172A"/>
                </a:solidFill>
                <a:latin typeface="Segoe UI"/>
              </a:defRPr>
            </a:pPr>
            <a:r>
              <a:t>ESG Impact</a:t>
            </a:r>
          </a:p>
        </p:txBody>
      </p:sp>
      <p:sp>
        <p:nvSpPr>
          <p:cNvPr id="11" name="Rounded Rectangle 10">
            <a:hlinkClick action="ppaction://hlinksldjump" r:id="rId9"/>
          </p:cNvPr>
          <p:cNvSpPr/>
          <p:nvPr/>
        </p:nvSpPr>
        <p:spPr>
          <a:xfrm>
            <a:off x="9034272" y="265176"/>
            <a:ext cx="1170432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0">
                <a:solidFill>
                  <a:srgbClr val="0F172A"/>
                </a:solidFill>
                <a:latin typeface="Segoe UI"/>
              </a:defRPr>
            </a:pPr>
            <a:r>
              <a:t>Tech Stack</a:t>
            </a:r>
          </a:p>
        </p:txBody>
      </p:sp>
      <p:sp>
        <p:nvSpPr>
          <p:cNvPr id="12" name="Rounded Rectangle 11">
            <a:hlinkClick action="ppaction://hlinksldjump" r:id="rId10"/>
          </p:cNvPr>
          <p:cNvSpPr/>
          <p:nvPr/>
        </p:nvSpPr>
        <p:spPr>
          <a:xfrm>
            <a:off x="10213848" y="265176"/>
            <a:ext cx="1170432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0">
                <a:solidFill>
                  <a:srgbClr val="0F172A"/>
                </a:solidFill>
                <a:latin typeface="Segoe UI"/>
              </a:defRPr>
            </a:pPr>
            <a:r>
              <a:t>Roadmap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777240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Segoe UI"/>
              </a:defRPr>
            </a:pPr>
            <a:r>
              <a:t>CUSTOMER MOBILE EXPERIENCE</a:t>
            </a:r>
          </a:p>
          <a:p>
            <a:pPr>
              <a:spcBef>
                <a:spcPts val="200"/>
              </a:spcBef>
              <a:defRPr sz="2200" b="1">
                <a:solidFill>
                  <a:srgbClr val="0F172A"/>
                </a:solidFill>
                <a:latin typeface="Segoe UI"/>
              </a:defRPr>
            </a:pPr>
            <a:r>
              <a:t>“Snap it. Request it. It’s gone.” in Under 3 Minutes</a:t>
            </a:r>
          </a:p>
          <a:p>
            <a:pPr>
              <a:spcBef>
                <a:spcPts val="200"/>
              </a:spcBef>
              <a:defRPr sz="1150">
                <a:solidFill>
                  <a:srgbClr val="64748B"/>
                </a:solidFill>
                <a:latin typeface="Segoe UI"/>
              </a:defRPr>
            </a:pPr>
            <a:r>
              <a:t>Frictionless mobile-first experience designed for households and commercial businesses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691640"/>
            <a:ext cx="6126480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1828800"/>
            <a:ext cx="5669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59669"/>
                </a:solidFill>
              </a:defRPr>
            </a:pPr>
            <a:r>
              <a:t>1. Snap it (Photo &amp; Waste Classification)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</a:defRPr>
            </a:pPr>
            <a:r>
              <a:t>   • Upload or snap up to 3 photos of waste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</a:defRPr>
            </a:pPr>
            <a:r>
              <a:t>   • Select stream: Plastic, Organic, Mixed, or E-Waste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</a:defRPr>
            </a:pPr>
            <a:r>
              <a:t>   • Choose volume: Small Bag (1.0x), Sack (1.6x), or Bin (2.4x)</a:t>
            </a:r>
          </a:p>
          <a:p>
            <a:pPr>
              <a:spcBef>
                <a:spcPts val="800"/>
              </a:spcBef>
              <a:defRPr sz="1250" b="1">
                <a:solidFill>
                  <a:srgbClr val="D97706"/>
                </a:solidFill>
              </a:defRPr>
            </a:pPr>
            <a:r>
              <a:t>2. Request it (Pin Location &amp; Upfront Price)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</a:defRPr>
            </a:pPr>
            <a:r>
              <a:t>   • Pin exact GPS location (Osu, East Legon, Tema, Kumasi)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</a:defRPr>
            </a:pPr>
            <a:r>
              <a:t>   • Instant dynamic tariff calculation breakdown in ₵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</a:defRPr>
            </a:pPr>
            <a:r>
              <a:t>   • Select Mobile Money (MTN MoMo, Telecel Cash, AirtelTigo)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</a:defRPr>
            </a:pPr>
            <a:r>
              <a:t>   • Optional: SOS Urgent pickup or Community neighborhood code</a:t>
            </a:r>
          </a:p>
          <a:p>
            <a:pPr>
              <a:spcBef>
                <a:spcPts val="800"/>
              </a:spcBef>
              <a:defRPr sz="1250" b="1">
                <a:solidFill>
                  <a:srgbClr val="064E3B"/>
                </a:solidFill>
              </a:defRPr>
            </a:pPr>
            <a:r>
              <a:t>3. It's gone (Live Tracking &amp; Photo Proof)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</a:defRPr>
            </a:pPr>
            <a:r>
              <a:t>   • Watch collector move toward pickup on live map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</a:defRPr>
            </a:pPr>
            <a:r>
              <a:t>   • ETA, collector photo, vehicle type, and verified badge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</a:defRPr>
            </a:pPr>
            <a:r>
              <a:t>   • Collector submits mandatory after-photo proof of collection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</a:defRPr>
            </a:pPr>
            <a:r>
              <a:t>   • Instant receipt, tip collector, and rate the experience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40880" y="1691640"/>
            <a:ext cx="4389120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ustomer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32320" y="1783080"/>
            <a:ext cx="4206240" cy="3474720"/>
          </a:xfrm>
          <a:prstGeom prst="rect">
            <a:avLst/>
          </a:prstGeom>
        </p:spPr>
      </p:pic>
      <p:sp>
        <p:nvSpPr>
          <p:cNvPr id="18" name="Rounded Rectangle 17">
            <a:hlinkClick r:id="rId12"/>
          </p:cNvPr>
          <p:cNvSpPr/>
          <p:nvPr/>
        </p:nvSpPr>
        <p:spPr>
          <a:xfrm>
            <a:off x="7132320" y="5532120"/>
            <a:ext cx="4206240" cy="68580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Try Customer Request Flow Live ↗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28600"/>
            <a:ext cx="10728655" cy="43891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777240" y="265176"/>
            <a:ext cx="1170432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0">
                <a:solidFill>
                  <a:srgbClr val="0F172A"/>
                </a:solidFill>
                <a:latin typeface="Segoe UI"/>
              </a:defRPr>
            </a:pPr>
            <a:r>
              <a:t>☖ Hub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1956816" y="265176"/>
            <a:ext cx="1170432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0">
                <a:solidFill>
                  <a:srgbClr val="0F172A"/>
                </a:solidFill>
                <a:latin typeface="Segoe UI"/>
              </a:defRPr>
            </a:pPr>
            <a:r>
              <a:t>Problem</a:t>
            </a:r>
          </a:p>
        </p:txBody>
      </p:sp>
      <p:sp>
        <p:nvSpPr>
          <p:cNvPr id="6" name="Rounded Rectangle 5">
            <a:hlinkClick action="ppaction://hlinksldjump" r:id="rId4"/>
          </p:cNvPr>
          <p:cNvSpPr/>
          <p:nvPr/>
        </p:nvSpPr>
        <p:spPr>
          <a:xfrm>
            <a:off x="3136392" y="265176"/>
            <a:ext cx="1170432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0">
                <a:solidFill>
                  <a:srgbClr val="0F172A"/>
                </a:solidFill>
                <a:latin typeface="Segoe UI"/>
              </a:defRPr>
            </a:pPr>
            <a:r>
              <a:t>Customer App</a:t>
            </a:r>
          </a:p>
        </p:txBody>
      </p:sp>
      <p:sp>
        <p:nvSpPr>
          <p:cNvPr id="7" name="Rounded Rectangle 6">
            <a:hlinkClick action="ppaction://hlinksldjump" r:id="rId5"/>
          </p:cNvPr>
          <p:cNvSpPr/>
          <p:nvPr/>
        </p:nvSpPr>
        <p:spPr>
          <a:xfrm>
            <a:off x="4315968" y="265176"/>
            <a:ext cx="1170432" cy="365760"/>
          </a:xfrm>
          <a:prstGeom prst="roundRect">
            <a:avLst/>
          </a:prstGeom>
          <a:solidFill>
            <a:srgbClr val="059669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Collector App</a:t>
            </a:r>
          </a:p>
        </p:txBody>
      </p:sp>
      <p:sp>
        <p:nvSpPr>
          <p:cNvPr id="8" name="Rounded Rectangle 7">
            <a:hlinkClick action="ppaction://hlinksldjump" r:id="rId6"/>
          </p:cNvPr>
          <p:cNvSpPr/>
          <p:nvPr/>
        </p:nvSpPr>
        <p:spPr>
          <a:xfrm>
            <a:off x="5495544" y="265176"/>
            <a:ext cx="1170432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0">
                <a:solidFill>
                  <a:srgbClr val="0F172A"/>
                </a:solidFill>
                <a:latin typeface="Segoe UI"/>
              </a:defRPr>
            </a:pPr>
            <a:r>
              <a:t>Admin CMS</a:t>
            </a:r>
          </a:p>
        </p:txBody>
      </p:sp>
      <p:sp>
        <p:nvSpPr>
          <p:cNvPr id="9" name="Rounded Rectangle 8">
            <a:hlinkClick action="ppaction://hlinksldjump" r:id="rId7"/>
          </p:cNvPr>
          <p:cNvSpPr/>
          <p:nvPr/>
        </p:nvSpPr>
        <p:spPr>
          <a:xfrm>
            <a:off x="6675120" y="265176"/>
            <a:ext cx="1170432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0">
                <a:solidFill>
                  <a:srgbClr val="0F172A"/>
                </a:solidFill>
                <a:latin typeface="Segoe UI"/>
              </a:defRPr>
            </a:pPr>
            <a:r>
              <a:t>Economics</a:t>
            </a:r>
          </a:p>
        </p:txBody>
      </p:sp>
      <p:sp>
        <p:nvSpPr>
          <p:cNvPr id="10" name="Rounded Rectangle 9">
            <a:hlinkClick action="ppaction://hlinksldjump" r:id="rId8"/>
          </p:cNvPr>
          <p:cNvSpPr/>
          <p:nvPr/>
        </p:nvSpPr>
        <p:spPr>
          <a:xfrm>
            <a:off x="7854696" y="265176"/>
            <a:ext cx="1170432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0">
                <a:solidFill>
                  <a:srgbClr val="0F172A"/>
                </a:solidFill>
                <a:latin typeface="Segoe UI"/>
              </a:defRPr>
            </a:pPr>
            <a:r>
              <a:t>ESG Impact</a:t>
            </a:r>
          </a:p>
        </p:txBody>
      </p:sp>
      <p:sp>
        <p:nvSpPr>
          <p:cNvPr id="11" name="Rounded Rectangle 10">
            <a:hlinkClick action="ppaction://hlinksldjump" r:id="rId9"/>
          </p:cNvPr>
          <p:cNvSpPr/>
          <p:nvPr/>
        </p:nvSpPr>
        <p:spPr>
          <a:xfrm>
            <a:off x="9034272" y="265176"/>
            <a:ext cx="1170432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0">
                <a:solidFill>
                  <a:srgbClr val="0F172A"/>
                </a:solidFill>
                <a:latin typeface="Segoe UI"/>
              </a:defRPr>
            </a:pPr>
            <a:r>
              <a:t>Tech Stack</a:t>
            </a:r>
          </a:p>
        </p:txBody>
      </p:sp>
      <p:sp>
        <p:nvSpPr>
          <p:cNvPr id="12" name="Rounded Rectangle 11">
            <a:hlinkClick action="ppaction://hlinksldjump" r:id="rId10"/>
          </p:cNvPr>
          <p:cNvSpPr/>
          <p:nvPr/>
        </p:nvSpPr>
        <p:spPr>
          <a:xfrm>
            <a:off x="10213848" y="265176"/>
            <a:ext cx="1170432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0">
                <a:solidFill>
                  <a:srgbClr val="0F172A"/>
                </a:solidFill>
                <a:latin typeface="Segoe UI"/>
              </a:defRPr>
            </a:pPr>
            <a:r>
              <a:t>Roadmap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777240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Segoe UI"/>
              </a:defRPr>
            </a:pPr>
            <a:r>
              <a:t>COLLECTOR DRIVER EXPERIENCE</a:t>
            </a:r>
          </a:p>
          <a:p>
            <a:pPr>
              <a:spcBef>
                <a:spcPts val="200"/>
              </a:spcBef>
              <a:defRPr sz="2200" b="1">
                <a:solidFill>
                  <a:srgbClr val="0F172A"/>
                </a:solidFill>
                <a:latin typeface="Segoe UI"/>
              </a:defRPr>
            </a:pPr>
            <a:r>
              <a:t>Dignifying &amp; Empowering Urban Waste Haulers</a:t>
            </a:r>
          </a:p>
          <a:p>
            <a:pPr>
              <a:spcBef>
                <a:spcPts val="200"/>
              </a:spcBef>
              <a:defRPr sz="1150">
                <a:solidFill>
                  <a:srgbClr val="64748B"/>
                </a:solidFill>
                <a:latin typeface="Segoe UI"/>
              </a:defRPr>
            </a:pPr>
            <a:r>
              <a:t>A dedicated driver interface turning informal waste pickers into tech-enabled logistics entrepreneurs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691640"/>
            <a:ext cx="4389120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collector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2960" y="1783080"/>
            <a:ext cx="4206240" cy="3474720"/>
          </a:xfrm>
          <a:prstGeom prst="rect">
            <a:avLst/>
          </a:prstGeom>
        </p:spPr>
      </p:pic>
      <p:sp>
        <p:nvSpPr>
          <p:cNvPr id="16" name="Rounded Rectangle 15">
            <a:hlinkClick r:id="rId12"/>
          </p:cNvPr>
          <p:cNvSpPr/>
          <p:nvPr/>
        </p:nvSpPr>
        <p:spPr>
          <a:xfrm>
            <a:off x="822960" y="5532120"/>
            <a:ext cx="4206240" cy="68580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Explore Collector Portal Live 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0" y="1691640"/>
            <a:ext cx="6126480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32120" y="1828800"/>
            <a:ext cx="5669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59669"/>
                </a:solidFill>
              </a:defRPr>
            </a:pPr>
            <a:r>
              <a:t>Smart Proximity Job Alerts</a:t>
            </a:r>
          </a:p>
          <a:p>
            <a:pPr>
              <a:spcBef>
                <a:spcPts val="200"/>
              </a:spcBef>
              <a:defRPr sz="1050">
                <a:solidFill>
                  <a:srgbClr val="0F172A"/>
                </a:solidFill>
              </a:defRPr>
            </a:pPr>
            <a:r>
              <a:t>Drivers toggle Online/Offline. Incoming requests display waste photos, pickup distance, urgency badge, and guaranteed net earnings in ₵ before acceptance.</a:t>
            </a:r>
          </a:p>
          <a:p>
            <a:pPr>
              <a:spcBef>
                <a:spcPts val="800"/>
              </a:spcBef>
              <a:defRPr sz="1200" b="1">
                <a:solidFill>
                  <a:srgbClr val="D97706"/>
                </a:solidFill>
              </a:defRPr>
            </a:pPr>
            <a:r>
              <a:t>Turn-by-Turn Route Guidance</a:t>
            </a:r>
          </a:p>
          <a:p>
            <a:pPr>
              <a:spcBef>
                <a:spcPts val="200"/>
              </a:spcBef>
              <a:defRPr sz="1050">
                <a:solidFill>
                  <a:srgbClr val="0F172A"/>
                </a:solidFill>
              </a:defRPr>
            </a:pPr>
            <a:r>
              <a:t>Integrated navigation route to customer pickup pinpoint. Status transitions: 'Start Route' → 'Arrived' → 'Start Collection' with 1-tap customer call.</a:t>
            </a:r>
          </a:p>
          <a:p>
            <a:pPr>
              <a:spcBef>
                <a:spcPts val="800"/>
              </a:spcBef>
              <a:defRPr sz="1200" b="1">
                <a:solidFill>
                  <a:srgbClr val="064E3B"/>
                </a:solidFill>
              </a:defRPr>
            </a:pPr>
            <a:r>
              <a:t>Mandatory Photo Proof Verification</a:t>
            </a:r>
          </a:p>
          <a:p>
            <a:pPr>
              <a:spcBef>
                <a:spcPts val="200"/>
              </a:spcBef>
              <a:defRPr sz="1050">
                <a:solidFill>
                  <a:srgbClr val="0F172A"/>
                </a:solidFill>
              </a:defRPr>
            </a:pPr>
            <a:r>
              <a:t>Before closing the job, the driver must snap and submit an 'After Photo' showing cleared premises, protecting drivers against disputes.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Instant Mobile Money Cashout</a:t>
            </a:r>
          </a:p>
          <a:p>
            <a:pPr>
              <a:spcBef>
                <a:spcPts val="200"/>
              </a:spcBef>
              <a:defRPr sz="1050">
                <a:solidFill>
                  <a:srgbClr val="0F172A"/>
                </a:solidFill>
              </a:defRPr>
            </a:pPr>
            <a:r>
              <a:t>Zero banking barriers. Earnings reflect immediately into the Collector Wallet. 1-click withdrawals direct to MTN MoMo, Telecel Cash, or AirtelTigo.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28600"/>
            <a:ext cx="10728655" cy="43891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777240" y="265176"/>
            <a:ext cx="1170432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0">
                <a:solidFill>
                  <a:srgbClr val="0F172A"/>
                </a:solidFill>
                <a:latin typeface="Segoe UI"/>
              </a:defRPr>
            </a:pPr>
            <a:r>
              <a:t>☖ Hub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1956816" y="265176"/>
            <a:ext cx="1170432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0">
                <a:solidFill>
                  <a:srgbClr val="0F172A"/>
                </a:solidFill>
                <a:latin typeface="Segoe UI"/>
              </a:defRPr>
            </a:pPr>
            <a:r>
              <a:t>Problem</a:t>
            </a:r>
          </a:p>
        </p:txBody>
      </p:sp>
      <p:sp>
        <p:nvSpPr>
          <p:cNvPr id="6" name="Rounded Rectangle 5">
            <a:hlinkClick action="ppaction://hlinksldjump" r:id="rId4"/>
          </p:cNvPr>
          <p:cNvSpPr/>
          <p:nvPr/>
        </p:nvSpPr>
        <p:spPr>
          <a:xfrm>
            <a:off x="3136392" y="265176"/>
            <a:ext cx="1170432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0">
                <a:solidFill>
                  <a:srgbClr val="0F172A"/>
                </a:solidFill>
                <a:latin typeface="Segoe UI"/>
              </a:defRPr>
            </a:pPr>
            <a:r>
              <a:t>Customer App</a:t>
            </a:r>
          </a:p>
        </p:txBody>
      </p:sp>
      <p:sp>
        <p:nvSpPr>
          <p:cNvPr id="7" name="Rounded Rectangle 6">
            <a:hlinkClick action="ppaction://hlinksldjump" r:id="rId5"/>
          </p:cNvPr>
          <p:cNvSpPr/>
          <p:nvPr/>
        </p:nvSpPr>
        <p:spPr>
          <a:xfrm>
            <a:off x="4315968" y="265176"/>
            <a:ext cx="1170432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0">
                <a:solidFill>
                  <a:srgbClr val="0F172A"/>
                </a:solidFill>
                <a:latin typeface="Segoe UI"/>
              </a:defRPr>
            </a:pPr>
            <a:r>
              <a:t>Collector App</a:t>
            </a:r>
          </a:p>
        </p:txBody>
      </p:sp>
      <p:sp>
        <p:nvSpPr>
          <p:cNvPr id="8" name="Rounded Rectangle 7">
            <a:hlinkClick action="ppaction://hlinksldjump" r:id="rId6"/>
          </p:cNvPr>
          <p:cNvSpPr/>
          <p:nvPr/>
        </p:nvSpPr>
        <p:spPr>
          <a:xfrm>
            <a:off x="5495544" y="265176"/>
            <a:ext cx="1170432" cy="365760"/>
          </a:xfrm>
          <a:prstGeom prst="roundRect">
            <a:avLst/>
          </a:prstGeom>
          <a:solidFill>
            <a:srgbClr val="059669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Admin CMS</a:t>
            </a:r>
          </a:p>
        </p:txBody>
      </p:sp>
      <p:sp>
        <p:nvSpPr>
          <p:cNvPr id="9" name="Rounded Rectangle 8">
            <a:hlinkClick action="ppaction://hlinksldjump" r:id="rId7"/>
          </p:cNvPr>
          <p:cNvSpPr/>
          <p:nvPr/>
        </p:nvSpPr>
        <p:spPr>
          <a:xfrm>
            <a:off x="6675120" y="265176"/>
            <a:ext cx="1170432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0">
                <a:solidFill>
                  <a:srgbClr val="0F172A"/>
                </a:solidFill>
                <a:latin typeface="Segoe UI"/>
              </a:defRPr>
            </a:pPr>
            <a:r>
              <a:t>Economics</a:t>
            </a:r>
          </a:p>
        </p:txBody>
      </p:sp>
      <p:sp>
        <p:nvSpPr>
          <p:cNvPr id="10" name="Rounded Rectangle 9">
            <a:hlinkClick action="ppaction://hlinksldjump" r:id="rId8"/>
          </p:cNvPr>
          <p:cNvSpPr/>
          <p:nvPr/>
        </p:nvSpPr>
        <p:spPr>
          <a:xfrm>
            <a:off x="7854696" y="265176"/>
            <a:ext cx="1170432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0">
                <a:solidFill>
                  <a:srgbClr val="0F172A"/>
                </a:solidFill>
                <a:latin typeface="Segoe UI"/>
              </a:defRPr>
            </a:pPr>
            <a:r>
              <a:t>ESG Impact</a:t>
            </a:r>
          </a:p>
        </p:txBody>
      </p:sp>
      <p:sp>
        <p:nvSpPr>
          <p:cNvPr id="11" name="Rounded Rectangle 10">
            <a:hlinkClick action="ppaction://hlinksldjump" r:id="rId9"/>
          </p:cNvPr>
          <p:cNvSpPr/>
          <p:nvPr/>
        </p:nvSpPr>
        <p:spPr>
          <a:xfrm>
            <a:off x="9034272" y="265176"/>
            <a:ext cx="1170432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0">
                <a:solidFill>
                  <a:srgbClr val="0F172A"/>
                </a:solidFill>
                <a:latin typeface="Segoe UI"/>
              </a:defRPr>
            </a:pPr>
            <a:r>
              <a:t>Tech Stack</a:t>
            </a:r>
          </a:p>
        </p:txBody>
      </p:sp>
      <p:sp>
        <p:nvSpPr>
          <p:cNvPr id="12" name="Rounded Rectangle 11">
            <a:hlinkClick action="ppaction://hlinksldjump" r:id="rId10"/>
          </p:cNvPr>
          <p:cNvSpPr/>
          <p:nvPr/>
        </p:nvSpPr>
        <p:spPr>
          <a:xfrm>
            <a:off x="10213848" y="265176"/>
            <a:ext cx="1170432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0">
                <a:solidFill>
                  <a:srgbClr val="0F172A"/>
                </a:solidFill>
                <a:latin typeface="Segoe UI"/>
              </a:defRPr>
            </a:pPr>
            <a:r>
              <a:t>Roadmap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777240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Segoe UI"/>
              </a:defRPr>
            </a:pPr>
            <a:r>
              <a:t>OPERATIONS &amp; GOVERNANCE</a:t>
            </a:r>
          </a:p>
          <a:p>
            <a:pPr>
              <a:spcBef>
                <a:spcPts val="200"/>
              </a:spcBef>
              <a:defRPr sz="2200" b="1">
                <a:solidFill>
                  <a:srgbClr val="0F172A"/>
                </a:solidFill>
                <a:latin typeface="Segoe UI"/>
              </a:defRPr>
            </a:pPr>
            <a:r>
              <a:t>Operations Command Center &amp; Fleet CMS</a:t>
            </a:r>
          </a:p>
          <a:p>
            <a:pPr>
              <a:spcBef>
                <a:spcPts val="200"/>
              </a:spcBef>
              <a:defRPr sz="1150">
                <a:solidFill>
                  <a:srgbClr val="64748B"/>
                </a:solidFill>
                <a:latin typeface="Segoe UI"/>
              </a:defRPr>
            </a:pPr>
            <a:r>
              <a:t>Desktop-grade platform for municipal authorities, fleet managers, and finance teams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691640"/>
            <a:ext cx="6126480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1828800"/>
            <a:ext cx="5669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59669"/>
                </a:solidFill>
              </a:defRPr>
            </a:pPr>
            <a:r>
              <a:t>Live Operations Command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</a:defRPr>
            </a:pPr>
            <a:r>
              <a:t>Full real-time map displaying active city pickups, collector locations, SOS priority alerts, and manual dispatcher reassignments.</a:t>
            </a:r>
          </a:p>
          <a:p>
            <a:pPr>
              <a:spcBef>
                <a:spcPts val="600"/>
              </a:spcBef>
              <a:defRPr sz="1150" b="1">
                <a:solidFill>
                  <a:srgbClr val="D97706"/>
                </a:solidFill>
              </a:defRPr>
            </a:pPr>
            <a:r>
              <a:t>Collector KYC &amp; Compliance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</a:defRPr>
            </a:pPr>
            <a:r>
              <a:t>Structured onboarding pipeline reviewing Ghana Card IDs, driving licences, and vehicle roadworthiness inspection before certification.</a:t>
            </a:r>
          </a:p>
          <a:p>
            <a:pPr>
              <a:spcBef>
                <a:spcPts val="600"/>
              </a:spcBef>
              <a:defRPr sz="1150" b="1">
                <a:solidFill>
                  <a:srgbClr val="064E3B"/>
                </a:solidFill>
              </a:defRPr>
            </a:pPr>
            <a:r>
              <a:t>Financial Clearinghouse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</a:defRPr>
            </a:pPr>
            <a:r>
              <a:t>Inbound customer MoMo ledger, automated driver commission deductions, and withdrawal approval queue.</a:t>
            </a:r>
          </a:p>
          <a:p>
            <a:pPr>
              <a:spcBef>
                <a:spcPts val="600"/>
              </a:spcBef>
              <a:defRPr sz="1150" b="1">
                <a:solidFill>
                  <a:srgbClr val="0F172A"/>
                </a:solidFill>
              </a:defRPr>
            </a:pPr>
            <a:r>
              <a:t>Dynamic Tariff &amp; Content CMS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</a:defRPr>
            </a:pPr>
            <a:r>
              <a:t>Configure base tariffs, per-km fees, waste multipliers, community codes, and announcements without code changes.</a:t>
            </a:r>
          </a:p>
          <a:p>
            <a:pPr>
              <a:spcBef>
                <a:spcPts val="600"/>
              </a:spcBef>
              <a:defRPr sz="1150" b="1">
                <a:solidFill>
                  <a:srgbClr val="059669"/>
                </a:solidFill>
              </a:defRPr>
            </a:pPr>
            <a:r>
              <a:t>Role-Based Security &amp; Audit Logs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</a:defRPr>
            </a:pPr>
            <a:r>
              <a:t>5 segregated roles: Super Admin, Operations, Finance, Support, and Content Admin with tamper-evident audit trails.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40880" y="1691640"/>
            <a:ext cx="4389120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admin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32320" y="1783080"/>
            <a:ext cx="4206240" cy="3474720"/>
          </a:xfrm>
          <a:prstGeom prst="rect">
            <a:avLst/>
          </a:prstGeom>
        </p:spPr>
      </p:pic>
      <p:sp>
        <p:nvSpPr>
          <p:cNvPr id="18" name="Rounded Rectangle 17">
            <a:hlinkClick r:id="rId12"/>
          </p:cNvPr>
          <p:cNvSpPr/>
          <p:nvPr/>
        </p:nvSpPr>
        <p:spPr>
          <a:xfrm>
            <a:off x="7132320" y="5532120"/>
            <a:ext cx="4206240" cy="6858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BBF24"/>
                </a:solidFill>
              </a:defRPr>
            </a:pPr>
            <a:r>
              <a:t>Access Admin Operations Portal ↗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28600"/>
            <a:ext cx="10728655" cy="43891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777240" y="265176"/>
            <a:ext cx="1170432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0">
                <a:solidFill>
                  <a:srgbClr val="0F172A"/>
                </a:solidFill>
                <a:latin typeface="Segoe UI"/>
              </a:defRPr>
            </a:pPr>
            <a:r>
              <a:t>☖ Hub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1956816" y="265176"/>
            <a:ext cx="1170432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0">
                <a:solidFill>
                  <a:srgbClr val="0F172A"/>
                </a:solidFill>
                <a:latin typeface="Segoe UI"/>
              </a:defRPr>
            </a:pPr>
            <a:r>
              <a:t>Problem</a:t>
            </a:r>
          </a:p>
        </p:txBody>
      </p:sp>
      <p:sp>
        <p:nvSpPr>
          <p:cNvPr id="6" name="Rounded Rectangle 5">
            <a:hlinkClick action="ppaction://hlinksldjump" r:id="rId4"/>
          </p:cNvPr>
          <p:cNvSpPr/>
          <p:nvPr/>
        </p:nvSpPr>
        <p:spPr>
          <a:xfrm>
            <a:off x="3136392" y="265176"/>
            <a:ext cx="1170432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0">
                <a:solidFill>
                  <a:srgbClr val="0F172A"/>
                </a:solidFill>
                <a:latin typeface="Segoe UI"/>
              </a:defRPr>
            </a:pPr>
            <a:r>
              <a:t>Customer App</a:t>
            </a:r>
          </a:p>
        </p:txBody>
      </p:sp>
      <p:sp>
        <p:nvSpPr>
          <p:cNvPr id="7" name="Rounded Rectangle 6">
            <a:hlinkClick action="ppaction://hlinksldjump" r:id="rId5"/>
          </p:cNvPr>
          <p:cNvSpPr/>
          <p:nvPr/>
        </p:nvSpPr>
        <p:spPr>
          <a:xfrm>
            <a:off x="4315968" y="265176"/>
            <a:ext cx="1170432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0">
                <a:solidFill>
                  <a:srgbClr val="0F172A"/>
                </a:solidFill>
                <a:latin typeface="Segoe UI"/>
              </a:defRPr>
            </a:pPr>
            <a:r>
              <a:t>Collector App</a:t>
            </a:r>
          </a:p>
        </p:txBody>
      </p:sp>
      <p:sp>
        <p:nvSpPr>
          <p:cNvPr id="8" name="Rounded Rectangle 7">
            <a:hlinkClick action="ppaction://hlinksldjump" r:id="rId6"/>
          </p:cNvPr>
          <p:cNvSpPr/>
          <p:nvPr/>
        </p:nvSpPr>
        <p:spPr>
          <a:xfrm>
            <a:off x="5495544" y="265176"/>
            <a:ext cx="1170432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0">
                <a:solidFill>
                  <a:srgbClr val="0F172A"/>
                </a:solidFill>
                <a:latin typeface="Segoe UI"/>
              </a:defRPr>
            </a:pPr>
            <a:r>
              <a:t>Admin CMS</a:t>
            </a:r>
          </a:p>
        </p:txBody>
      </p:sp>
      <p:sp>
        <p:nvSpPr>
          <p:cNvPr id="9" name="Rounded Rectangle 8">
            <a:hlinkClick action="ppaction://hlinksldjump" r:id="rId7"/>
          </p:cNvPr>
          <p:cNvSpPr/>
          <p:nvPr/>
        </p:nvSpPr>
        <p:spPr>
          <a:xfrm>
            <a:off x="6675120" y="265176"/>
            <a:ext cx="1170432" cy="365760"/>
          </a:xfrm>
          <a:prstGeom prst="roundRect">
            <a:avLst/>
          </a:prstGeom>
          <a:solidFill>
            <a:srgbClr val="059669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Economics</a:t>
            </a:r>
          </a:p>
        </p:txBody>
      </p:sp>
      <p:sp>
        <p:nvSpPr>
          <p:cNvPr id="10" name="Rounded Rectangle 9">
            <a:hlinkClick action="ppaction://hlinksldjump" r:id="rId8"/>
          </p:cNvPr>
          <p:cNvSpPr/>
          <p:nvPr/>
        </p:nvSpPr>
        <p:spPr>
          <a:xfrm>
            <a:off x="7854696" y="265176"/>
            <a:ext cx="1170432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0">
                <a:solidFill>
                  <a:srgbClr val="0F172A"/>
                </a:solidFill>
                <a:latin typeface="Segoe UI"/>
              </a:defRPr>
            </a:pPr>
            <a:r>
              <a:t>ESG Impact</a:t>
            </a:r>
          </a:p>
        </p:txBody>
      </p:sp>
      <p:sp>
        <p:nvSpPr>
          <p:cNvPr id="11" name="Rounded Rectangle 10">
            <a:hlinkClick action="ppaction://hlinksldjump" r:id="rId9"/>
          </p:cNvPr>
          <p:cNvSpPr/>
          <p:nvPr/>
        </p:nvSpPr>
        <p:spPr>
          <a:xfrm>
            <a:off x="9034272" y="265176"/>
            <a:ext cx="1170432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0">
                <a:solidFill>
                  <a:srgbClr val="0F172A"/>
                </a:solidFill>
                <a:latin typeface="Segoe UI"/>
              </a:defRPr>
            </a:pPr>
            <a:r>
              <a:t>Tech Stack</a:t>
            </a:r>
          </a:p>
        </p:txBody>
      </p:sp>
      <p:sp>
        <p:nvSpPr>
          <p:cNvPr id="12" name="Rounded Rectangle 11">
            <a:hlinkClick action="ppaction://hlinksldjump" r:id="rId10"/>
          </p:cNvPr>
          <p:cNvSpPr/>
          <p:nvPr/>
        </p:nvSpPr>
        <p:spPr>
          <a:xfrm>
            <a:off x="10213848" y="265176"/>
            <a:ext cx="1170432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0">
                <a:solidFill>
                  <a:srgbClr val="0F172A"/>
                </a:solidFill>
                <a:latin typeface="Segoe UI"/>
              </a:defRPr>
            </a:pPr>
            <a:r>
              <a:t>Roadmap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777240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Segoe UI"/>
              </a:defRPr>
            </a:pPr>
            <a:r>
              <a:t>BUSINESS MODEL &amp; MONETIZATION</a:t>
            </a:r>
          </a:p>
          <a:p>
            <a:pPr>
              <a:spcBef>
                <a:spcPts val="200"/>
              </a:spcBef>
              <a:defRPr sz="2200" b="1">
                <a:solidFill>
                  <a:srgbClr val="0F172A"/>
                </a:solidFill>
                <a:latin typeface="Segoe UI"/>
              </a:defRPr>
            </a:pPr>
            <a:r>
              <a:t>Transparent Pricing Formula &amp; Revenue Streams</a:t>
            </a:r>
          </a:p>
          <a:p>
            <a:pPr>
              <a:spcBef>
                <a:spcPts val="200"/>
              </a:spcBef>
              <a:defRPr sz="1150">
                <a:solidFill>
                  <a:srgbClr val="64748B"/>
                </a:solidFill>
                <a:latin typeface="Segoe UI"/>
              </a:defRPr>
            </a:pPr>
            <a:r>
              <a:t>Predictable pricing for users and sustainable marketplace unit economics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691640"/>
            <a:ext cx="5212080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1874519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DYNAMIC TARIFF FORMULA</a:t>
            </a:r>
          </a:p>
          <a:p>
            <a:pPr>
              <a:spcBef>
                <a:spcPts val="400"/>
              </a:spcBef>
              <a:defRPr sz="1600" b="1">
                <a:solidFill>
                  <a:srgbClr val="0F172A"/>
                </a:solidFill>
              </a:defRPr>
            </a:pPr>
            <a:r>
              <a:t>How Every Pickup Is Priced in GHS (₵)</a:t>
            </a:r>
          </a:p>
          <a:p>
            <a:pPr>
              <a:spcBef>
                <a:spcPts val="700"/>
              </a:spcBef>
            </a:pPr>
            <a:r>
              <a:rPr b="1" sz="1100">
                <a:solidFill>
                  <a:srgbClr val="0F172A"/>
                </a:solidFill>
              </a:rPr>
              <a:t>• Base Mobilization Fee: </a:t>
            </a:r>
            <a:r>
              <a:rPr sz="1050">
                <a:solidFill>
                  <a:srgbClr val="64748B"/>
                </a:solidFill>
              </a:rPr>
              <a:t>₵15.00 flat entry fee covering hauler dispatch</a:t>
            </a:r>
          </a:p>
          <a:p>
            <a:pPr>
              <a:spcBef>
                <a:spcPts val="700"/>
              </a:spcBef>
            </a:pPr>
            <a:r>
              <a:rPr b="1" sz="1100">
                <a:solidFill>
                  <a:srgbClr val="0F172A"/>
                </a:solidFill>
              </a:rPr>
              <a:t>• Waste Type Multiplier: </a:t>
            </a:r>
            <a:r>
              <a:rPr sz="1050">
                <a:solidFill>
                  <a:srgbClr val="64748B"/>
                </a:solidFill>
              </a:rPr>
              <a:t>Plastic (1.1x), Organic (1.0x), Mixed (1.2x), E-Waste (1.5x)</a:t>
            </a:r>
          </a:p>
          <a:p>
            <a:pPr>
              <a:spcBef>
                <a:spcPts val="700"/>
              </a:spcBef>
            </a:pPr>
            <a:r>
              <a:rPr b="1" sz="1100">
                <a:solidFill>
                  <a:srgbClr val="0F172A"/>
                </a:solidFill>
              </a:rPr>
              <a:t>• Volume Tier Factor: </a:t>
            </a:r>
            <a:r>
              <a:rPr sz="1050">
                <a:solidFill>
                  <a:srgbClr val="64748B"/>
                </a:solidFill>
              </a:rPr>
              <a:t>Small Bag (1.0x), Sack (1.6x), Standard Bin (2.4x)</a:t>
            </a:r>
          </a:p>
          <a:p>
            <a:pPr>
              <a:spcBef>
                <a:spcPts val="700"/>
              </a:spcBef>
            </a:pPr>
            <a:r>
              <a:rPr b="1" sz="1100">
                <a:solidFill>
                  <a:srgbClr val="0F172A"/>
                </a:solidFill>
              </a:rPr>
              <a:t>• Distance Surcharge: </a:t>
            </a:r>
            <a:r>
              <a:rPr sz="1050">
                <a:solidFill>
                  <a:srgbClr val="64748B"/>
                </a:solidFill>
              </a:rPr>
              <a:t>₵2.50 per kilometer from collector to customer</a:t>
            </a:r>
          </a:p>
          <a:p>
            <a:pPr>
              <a:spcBef>
                <a:spcPts val="700"/>
              </a:spcBef>
            </a:pPr>
            <a:r>
              <a:rPr b="1" sz="1100">
                <a:solidFill>
                  <a:srgbClr val="0F172A"/>
                </a:solidFill>
              </a:rPr>
              <a:t>• SOS Urgency Add-on: </a:t>
            </a:r>
            <a:r>
              <a:rPr sz="1050">
                <a:solidFill>
                  <a:srgbClr val="64748B"/>
                </a:solidFill>
              </a:rPr>
              <a:t>+₵10.00 priority fee for rapid guaranteed matching</a:t>
            </a:r>
          </a:p>
          <a:p>
            <a:pPr>
              <a:spcBef>
                <a:spcPts val="700"/>
              </a:spcBef>
            </a:pPr>
            <a:r>
              <a:rPr b="1" sz="1100">
                <a:solidFill>
                  <a:srgbClr val="0F172A"/>
                </a:solidFill>
              </a:rPr>
              <a:t>• Community Discount: </a:t>
            </a:r>
            <a:r>
              <a:rPr sz="1050">
                <a:solidFill>
                  <a:srgbClr val="64748B"/>
                </a:solidFill>
              </a:rPr>
              <a:t>-12% discount for pooled neighborhood pickups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691640"/>
            <a:ext cx="5212080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874519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MARKETPLACE REVENUE STREAMS</a:t>
            </a:r>
          </a:p>
          <a:p>
            <a:pPr>
              <a:spcBef>
                <a:spcPts val="400"/>
              </a:spcBef>
              <a:defRPr sz="1600" b="1">
                <a:solidFill>
                  <a:srgbClr val="0F172A"/>
                </a:solidFill>
              </a:defRPr>
            </a:pPr>
            <a:r>
              <a:t>Multi-Pronged Revenue Model</a:t>
            </a:r>
          </a:p>
          <a:p>
            <a:pPr>
              <a:spcBef>
                <a:spcPts val="900"/>
              </a:spcBef>
            </a:pPr>
            <a:r>
              <a:rPr b="1" sz="1150">
                <a:solidFill>
                  <a:srgbClr val="064E3B"/>
                </a:solidFill>
              </a:rPr>
              <a:t>✔ Platform Take Rate (15% - 20%)
</a:t>
            </a:r>
            <a:r>
              <a:rPr sz="1050">
                <a:solidFill>
                  <a:srgbClr val="64748B"/>
                </a:solidFill>
              </a:rPr>
              <a:t>Transaction commission deducted automatically on every completed on-demand pickup.</a:t>
            </a:r>
          </a:p>
          <a:p>
            <a:pPr>
              <a:spcBef>
                <a:spcPts val="900"/>
              </a:spcBef>
            </a:pPr>
            <a:r>
              <a:rPr b="1" sz="1150">
                <a:solidFill>
                  <a:srgbClr val="064E3B"/>
                </a:solidFill>
              </a:rPr>
              <a:t>✔ Recurring Subscriptions
</a:t>
            </a:r>
            <a:r>
              <a:rPr sz="1050">
                <a:solidFill>
                  <a:srgbClr val="64748B"/>
                </a:solidFill>
              </a:rPr>
              <a:t>Predictable weekly and monthly scheduled pickup subscriptions for residential estates and businesses.</a:t>
            </a:r>
          </a:p>
          <a:p>
            <a:pPr>
              <a:spcBef>
                <a:spcPts val="900"/>
              </a:spcBef>
            </a:pPr>
            <a:r>
              <a:rPr b="1" sz="1150">
                <a:solidFill>
                  <a:srgbClr val="064E3B"/>
                </a:solidFill>
              </a:rPr>
              <a:t>✔ Commercial &amp; B2B Contracts
</a:t>
            </a:r>
            <a:r>
              <a:rPr sz="1050">
                <a:solidFill>
                  <a:srgbClr val="64748B"/>
                </a:solidFill>
              </a:rPr>
              <a:t>Enterprise waste management contracts for restaurants, hotels, hospitals, and shopping centers.</a:t>
            </a:r>
          </a:p>
          <a:p>
            <a:pPr>
              <a:spcBef>
                <a:spcPts val="900"/>
              </a:spcBef>
            </a:pPr>
            <a:r>
              <a:rPr b="1" sz="1150">
                <a:solidFill>
                  <a:srgbClr val="064E3B"/>
                </a:solidFill>
              </a:rPr>
              <a:t>✔ Recyclables Aggregation
</a:t>
            </a:r>
            <a:r>
              <a:rPr sz="1050">
                <a:solidFill>
                  <a:srgbClr val="64748B"/>
                </a:solidFill>
              </a:rPr>
              <a:t>Secondary revenue through sorting, bailing, and selling aggregated plastics and e-waste to recycling processors.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28600"/>
            <a:ext cx="10728655" cy="43891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777240" y="265176"/>
            <a:ext cx="1170432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0">
                <a:solidFill>
                  <a:srgbClr val="0F172A"/>
                </a:solidFill>
                <a:latin typeface="Segoe UI"/>
              </a:defRPr>
            </a:pPr>
            <a:r>
              <a:t>☖ Hub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1956816" y="265176"/>
            <a:ext cx="1170432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0">
                <a:solidFill>
                  <a:srgbClr val="0F172A"/>
                </a:solidFill>
                <a:latin typeface="Segoe UI"/>
              </a:defRPr>
            </a:pPr>
            <a:r>
              <a:t>Problem</a:t>
            </a:r>
          </a:p>
        </p:txBody>
      </p:sp>
      <p:sp>
        <p:nvSpPr>
          <p:cNvPr id="6" name="Rounded Rectangle 5">
            <a:hlinkClick action="ppaction://hlinksldjump" r:id="rId4"/>
          </p:cNvPr>
          <p:cNvSpPr/>
          <p:nvPr/>
        </p:nvSpPr>
        <p:spPr>
          <a:xfrm>
            <a:off x="3136392" y="265176"/>
            <a:ext cx="1170432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0">
                <a:solidFill>
                  <a:srgbClr val="0F172A"/>
                </a:solidFill>
                <a:latin typeface="Segoe UI"/>
              </a:defRPr>
            </a:pPr>
            <a:r>
              <a:t>Customer App</a:t>
            </a:r>
          </a:p>
        </p:txBody>
      </p:sp>
      <p:sp>
        <p:nvSpPr>
          <p:cNvPr id="7" name="Rounded Rectangle 6">
            <a:hlinkClick action="ppaction://hlinksldjump" r:id="rId5"/>
          </p:cNvPr>
          <p:cNvSpPr/>
          <p:nvPr/>
        </p:nvSpPr>
        <p:spPr>
          <a:xfrm>
            <a:off x="4315968" y="265176"/>
            <a:ext cx="1170432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0">
                <a:solidFill>
                  <a:srgbClr val="0F172A"/>
                </a:solidFill>
                <a:latin typeface="Segoe UI"/>
              </a:defRPr>
            </a:pPr>
            <a:r>
              <a:t>Collector App</a:t>
            </a:r>
          </a:p>
        </p:txBody>
      </p:sp>
      <p:sp>
        <p:nvSpPr>
          <p:cNvPr id="8" name="Rounded Rectangle 7">
            <a:hlinkClick action="ppaction://hlinksldjump" r:id="rId6"/>
          </p:cNvPr>
          <p:cNvSpPr/>
          <p:nvPr/>
        </p:nvSpPr>
        <p:spPr>
          <a:xfrm>
            <a:off x="5495544" y="265176"/>
            <a:ext cx="1170432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0">
                <a:solidFill>
                  <a:srgbClr val="0F172A"/>
                </a:solidFill>
                <a:latin typeface="Segoe UI"/>
              </a:defRPr>
            </a:pPr>
            <a:r>
              <a:t>Admin CMS</a:t>
            </a:r>
          </a:p>
        </p:txBody>
      </p:sp>
      <p:sp>
        <p:nvSpPr>
          <p:cNvPr id="9" name="Rounded Rectangle 8">
            <a:hlinkClick action="ppaction://hlinksldjump" r:id="rId7"/>
          </p:cNvPr>
          <p:cNvSpPr/>
          <p:nvPr/>
        </p:nvSpPr>
        <p:spPr>
          <a:xfrm>
            <a:off x="6675120" y="265176"/>
            <a:ext cx="1170432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0">
                <a:solidFill>
                  <a:srgbClr val="0F172A"/>
                </a:solidFill>
                <a:latin typeface="Segoe UI"/>
              </a:defRPr>
            </a:pPr>
            <a:r>
              <a:t>Economics</a:t>
            </a:r>
          </a:p>
        </p:txBody>
      </p:sp>
      <p:sp>
        <p:nvSpPr>
          <p:cNvPr id="10" name="Rounded Rectangle 9">
            <a:hlinkClick action="ppaction://hlinksldjump" r:id="rId8"/>
          </p:cNvPr>
          <p:cNvSpPr/>
          <p:nvPr/>
        </p:nvSpPr>
        <p:spPr>
          <a:xfrm>
            <a:off x="7854696" y="265176"/>
            <a:ext cx="1170432" cy="365760"/>
          </a:xfrm>
          <a:prstGeom prst="roundRect">
            <a:avLst/>
          </a:prstGeom>
          <a:solidFill>
            <a:srgbClr val="059669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ESG Impact</a:t>
            </a:r>
          </a:p>
        </p:txBody>
      </p:sp>
      <p:sp>
        <p:nvSpPr>
          <p:cNvPr id="11" name="Rounded Rectangle 10">
            <a:hlinkClick action="ppaction://hlinksldjump" r:id="rId9"/>
          </p:cNvPr>
          <p:cNvSpPr/>
          <p:nvPr/>
        </p:nvSpPr>
        <p:spPr>
          <a:xfrm>
            <a:off x="9034272" y="265176"/>
            <a:ext cx="1170432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0">
                <a:solidFill>
                  <a:srgbClr val="0F172A"/>
                </a:solidFill>
                <a:latin typeface="Segoe UI"/>
              </a:defRPr>
            </a:pPr>
            <a:r>
              <a:t>Tech Stack</a:t>
            </a:r>
          </a:p>
        </p:txBody>
      </p:sp>
      <p:sp>
        <p:nvSpPr>
          <p:cNvPr id="12" name="Rounded Rectangle 11">
            <a:hlinkClick action="ppaction://hlinksldjump" r:id="rId10"/>
          </p:cNvPr>
          <p:cNvSpPr/>
          <p:nvPr/>
        </p:nvSpPr>
        <p:spPr>
          <a:xfrm>
            <a:off x="10213848" y="265176"/>
            <a:ext cx="1170432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0">
                <a:solidFill>
                  <a:srgbClr val="0F172A"/>
                </a:solidFill>
                <a:latin typeface="Segoe UI"/>
              </a:defRPr>
            </a:pPr>
            <a:r>
              <a:t>Roadmap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777240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Segoe UI"/>
              </a:defRPr>
            </a:pPr>
            <a:r>
              <a:t>IMPACT &amp; SUSTAINABILITY</a:t>
            </a:r>
          </a:p>
          <a:p>
            <a:pPr>
              <a:spcBef>
                <a:spcPts val="200"/>
              </a:spcBef>
              <a:defRPr sz="2200" b="1">
                <a:solidFill>
                  <a:srgbClr val="0F172A"/>
                </a:solidFill>
                <a:latin typeface="Segoe UI"/>
              </a:defRPr>
            </a:pPr>
            <a:r>
              <a:t>ESG Alignment &amp; Cleaner Communities for Ghana</a:t>
            </a:r>
          </a:p>
          <a:p>
            <a:pPr>
              <a:spcBef>
                <a:spcPts val="200"/>
              </a:spcBef>
              <a:defRPr sz="1150">
                <a:solidFill>
                  <a:srgbClr val="64748B"/>
                </a:solidFill>
                <a:latin typeface="Segoe UI"/>
              </a:defRPr>
            </a:pPr>
            <a:r>
              <a:t>Combining climate resilience, flood prevention, and dignified livelihoods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691640"/>
            <a:ext cx="6126480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1828800"/>
            <a:ext cx="5669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59669"/>
                </a:solidFill>
              </a:defRPr>
            </a:pPr>
            <a:r>
              <a:t>Environmental: Landfill Diversion &amp; Zero Burning</a:t>
            </a:r>
          </a:p>
          <a:p>
            <a:pPr>
              <a:spcBef>
                <a:spcPts val="200"/>
              </a:spcBef>
              <a:defRPr sz="1050">
                <a:solidFill>
                  <a:srgbClr val="0F172A"/>
                </a:solidFill>
              </a:defRPr>
            </a:pPr>
            <a:r>
              <a:t>Pre-sorting plastics and e-waste at the household level diverts thousands of tons from landfills and eliminates neighborhood smoke pollution.</a:t>
            </a:r>
          </a:p>
          <a:p>
            <a:pPr>
              <a:spcBef>
                <a:spcPts val="800"/>
              </a:spcBef>
              <a:defRPr sz="1200" b="1">
                <a:solidFill>
                  <a:srgbClr val="D97706"/>
                </a:solidFill>
              </a:defRPr>
            </a:pPr>
            <a:r>
              <a:t>Disaster Resilience: Accra Flood Prevention</a:t>
            </a:r>
          </a:p>
          <a:p>
            <a:pPr>
              <a:spcBef>
                <a:spcPts val="200"/>
              </a:spcBef>
              <a:defRPr sz="1050">
                <a:solidFill>
                  <a:srgbClr val="0F172A"/>
                </a:solidFill>
              </a:defRPr>
            </a:pPr>
            <a:r>
              <a:t>Uncollected plastic debris blocks open storm gutters during tropical downpours. Fast on-demand pickup prevents catastrophic neighborhood flooding.</a:t>
            </a:r>
          </a:p>
          <a:p>
            <a:pPr>
              <a:spcBef>
                <a:spcPts val="800"/>
              </a:spcBef>
              <a:defRPr sz="1200" b="1">
                <a:solidFill>
                  <a:srgbClr val="064E3B"/>
                </a:solidFill>
              </a:defRPr>
            </a:pPr>
            <a:r>
              <a:t>Social: Dignified Incomes &amp; Financial Inclusion</a:t>
            </a:r>
          </a:p>
          <a:p>
            <a:pPr>
              <a:spcBef>
                <a:spcPts val="200"/>
              </a:spcBef>
              <a:defRPr sz="1050">
                <a:solidFill>
                  <a:srgbClr val="0F172A"/>
                </a:solidFill>
              </a:defRPr>
            </a:pPr>
            <a:r>
              <a:t>Formalizes informal haulers with digital MoMo payments, safety credentials, and verifiable earnings records for micro-loans.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Governance: Data-Driven Municipal Oversight</a:t>
            </a:r>
          </a:p>
          <a:p>
            <a:pPr>
              <a:spcBef>
                <a:spcPts val="200"/>
              </a:spcBef>
              <a:defRPr sz="1050">
                <a:solidFill>
                  <a:srgbClr val="0F172A"/>
                </a:solidFill>
              </a:defRPr>
            </a:pPr>
            <a:r>
              <a:t>Generates city-wide waste heatmaps, empowering municipal assemblies (AMA, TMA) with actionable data for urban planning.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40880" y="1691640"/>
            <a:ext cx="4389120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pact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32320" y="1783080"/>
            <a:ext cx="4206240" cy="34747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132320" y="539496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4E3B"/>
                </a:solidFill>
              </a:defRPr>
            </a:pPr>
            <a:r>
              <a:t>Community Recycling Initiative — Accra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Color-coded sorting for plastics, organics, and e-waste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28600"/>
            <a:ext cx="10728655" cy="43891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777240" y="265176"/>
            <a:ext cx="1170432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0">
                <a:solidFill>
                  <a:srgbClr val="0F172A"/>
                </a:solidFill>
                <a:latin typeface="Segoe UI"/>
              </a:defRPr>
            </a:pPr>
            <a:r>
              <a:t>☖ Hub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1956816" y="265176"/>
            <a:ext cx="1170432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0">
                <a:solidFill>
                  <a:srgbClr val="0F172A"/>
                </a:solidFill>
                <a:latin typeface="Segoe UI"/>
              </a:defRPr>
            </a:pPr>
            <a:r>
              <a:t>Problem</a:t>
            </a:r>
          </a:p>
        </p:txBody>
      </p:sp>
      <p:sp>
        <p:nvSpPr>
          <p:cNvPr id="6" name="Rounded Rectangle 5">
            <a:hlinkClick action="ppaction://hlinksldjump" r:id="rId4"/>
          </p:cNvPr>
          <p:cNvSpPr/>
          <p:nvPr/>
        </p:nvSpPr>
        <p:spPr>
          <a:xfrm>
            <a:off x="3136392" y="265176"/>
            <a:ext cx="1170432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0">
                <a:solidFill>
                  <a:srgbClr val="0F172A"/>
                </a:solidFill>
                <a:latin typeface="Segoe UI"/>
              </a:defRPr>
            </a:pPr>
            <a:r>
              <a:t>Customer App</a:t>
            </a:r>
          </a:p>
        </p:txBody>
      </p:sp>
      <p:sp>
        <p:nvSpPr>
          <p:cNvPr id="7" name="Rounded Rectangle 6">
            <a:hlinkClick action="ppaction://hlinksldjump" r:id="rId5"/>
          </p:cNvPr>
          <p:cNvSpPr/>
          <p:nvPr/>
        </p:nvSpPr>
        <p:spPr>
          <a:xfrm>
            <a:off x="4315968" y="265176"/>
            <a:ext cx="1170432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0">
                <a:solidFill>
                  <a:srgbClr val="0F172A"/>
                </a:solidFill>
                <a:latin typeface="Segoe UI"/>
              </a:defRPr>
            </a:pPr>
            <a:r>
              <a:t>Collector App</a:t>
            </a:r>
          </a:p>
        </p:txBody>
      </p:sp>
      <p:sp>
        <p:nvSpPr>
          <p:cNvPr id="8" name="Rounded Rectangle 7">
            <a:hlinkClick action="ppaction://hlinksldjump" r:id="rId6"/>
          </p:cNvPr>
          <p:cNvSpPr/>
          <p:nvPr/>
        </p:nvSpPr>
        <p:spPr>
          <a:xfrm>
            <a:off x="5495544" y="265176"/>
            <a:ext cx="1170432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0">
                <a:solidFill>
                  <a:srgbClr val="0F172A"/>
                </a:solidFill>
                <a:latin typeface="Segoe UI"/>
              </a:defRPr>
            </a:pPr>
            <a:r>
              <a:t>Admin CMS</a:t>
            </a:r>
          </a:p>
        </p:txBody>
      </p:sp>
      <p:sp>
        <p:nvSpPr>
          <p:cNvPr id="9" name="Rounded Rectangle 8">
            <a:hlinkClick action="ppaction://hlinksldjump" r:id="rId7"/>
          </p:cNvPr>
          <p:cNvSpPr/>
          <p:nvPr/>
        </p:nvSpPr>
        <p:spPr>
          <a:xfrm>
            <a:off x="6675120" y="265176"/>
            <a:ext cx="1170432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0">
                <a:solidFill>
                  <a:srgbClr val="0F172A"/>
                </a:solidFill>
                <a:latin typeface="Segoe UI"/>
              </a:defRPr>
            </a:pPr>
            <a:r>
              <a:t>Economics</a:t>
            </a:r>
          </a:p>
        </p:txBody>
      </p:sp>
      <p:sp>
        <p:nvSpPr>
          <p:cNvPr id="10" name="Rounded Rectangle 9">
            <a:hlinkClick action="ppaction://hlinksldjump" r:id="rId8"/>
          </p:cNvPr>
          <p:cNvSpPr/>
          <p:nvPr/>
        </p:nvSpPr>
        <p:spPr>
          <a:xfrm>
            <a:off x="7854696" y="265176"/>
            <a:ext cx="1170432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0">
                <a:solidFill>
                  <a:srgbClr val="0F172A"/>
                </a:solidFill>
                <a:latin typeface="Segoe UI"/>
              </a:defRPr>
            </a:pPr>
            <a:r>
              <a:t>ESG Impact</a:t>
            </a:r>
          </a:p>
        </p:txBody>
      </p:sp>
      <p:sp>
        <p:nvSpPr>
          <p:cNvPr id="11" name="Rounded Rectangle 10">
            <a:hlinkClick action="ppaction://hlinksldjump" r:id="rId9"/>
          </p:cNvPr>
          <p:cNvSpPr/>
          <p:nvPr/>
        </p:nvSpPr>
        <p:spPr>
          <a:xfrm>
            <a:off x="9034272" y="265176"/>
            <a:ext cx="1170432" cy="365760"/>
          </a:xfrm>
          <a:prstGeom prst="roundRect">
            <a:avLst/>
          </a:prstGeom>
          <a:solidFill>
            <a:srgbClr val="059669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Tech Stack</a:t>
            </a:r>
          </a:p>
        </p:txBody>
      </p:sp>
      <p:sp>
        <p:nvSpPr>
          <p:cNvPr id="12" name="Rounded Rectangle 11">
            <a:hlinkClick action="ppaction://hlinksldjump" r:id="rId10"/>
          </p:cNvPr>
          <p:cNvSpPr/>
          <p:nvPr/>
        </p:nvSpPr>
        <p:spPr>
          <a:xfrm>
            <a:off x="10213848" y="265176"/>
            <a:ext cx="1170432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0">
                <a:solidFill>
                  <a:srgbClr val="0F172A"/>
                </a:solidFill>
                <a:latin typeface="Segoe UI"/>
              </a:defRPr>
            </a:pPr>
            <a:r>
              <a:t>Roadmap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777240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Segoe UI"/>
              </a:defRPr>
            </a:pPr>
            <a:r>
              <a:t>TECHNICAL ARCHITECTURE</a:t>
            </a:r>
          </a:p>
          <a:p>
            <a:pPr>
              <a:spcBef>
                <a:spcPts val="200"/>
              </a:spcBef>
              <a:defRPr sz="2200" b="1">
                <a:solidFill>
                  <a:srgbClr val="0F172A"/>
                </a:solidFill>
                <a:latin typeface="Segoe UI"/>
              </a:defRPr>
            </a:pPr>
            <a:r>
              <a:t>Built for Speed, Reliability, &amp; Mobile Operability</a:t>
            </a:r>
          </a:p>
          <a:p>
            <a:pPr>
              <a:spcBef>
                <a:spcPts val="200"/>
              </a:spcBef>
              <a:defRPr sz="1150">
                <a:solidFill>
                  <a:srgbClr val="64748B"/>
                </a:solidFill>
                <a:latin typeface="Segoe UI"/>
              </a:defRPr>
            </a:pPr>
            <a:r>
              <a:t>High-performance modern web and mobile architecture engineered for real-world conditions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69164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1691640"/>
            <a:ext cx="109728" cy="21945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182880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9669"/>
                </a:solidFill>
              </a:defRPr>
            </a:pPr>
            <a:r>
              <a:t>Frontend &amp; UI Architecture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React 19 &amp; TypeScript for robust end-to-end type safety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TanStack Router for client-side stateful routing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Tailwind CSS with custom Emerald / Ghana Gold design tokens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Radix UI primitives for accessible mobile bottom sheets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69164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691640"/>
            <a:ext cx="109728" cy="21945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82880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7706"/>
                </a:solidFill>
              </a:defRPr>
            </a:pPr>
            <a:r>
              <a:t>Interactive Map &amp; Geolocation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Custom canvas-based map rendering with smooth zoom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Real-time collector GPS positioning and simulated routing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Instant dynamic distance calculation and ETA range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Geofenced support for Osu, East Legon, Tema, Kumasi, etc.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20624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4206240"/>
            <a:ext cx="109728" cy="219456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34340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4E3B"/>
                </a:solidFill>
              </a:defRPr>
            </a:pPr>
            <a:r>
              <a:t>Fintech &amp; Payment Engine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MTN Mobile Money, Telecel Cash, &amp; AirtelTigo integration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Automated payment status cycle (Pending, Paid, Failed)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Collector digital balance ledger and payout security checks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Instant withdrawal approval pipeline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420624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4206240"/>
            <a:ext cx="109728" cy="2194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434340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Operations, Audit &amp; Reliability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Granular Role-Based Access Control (5 Admin security roles)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Tamper-evident audit log tracking all status &amp; price changes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Reactive state management with offline recovery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Comprehensive error capturing and diagnostic monitoring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BBF24"/>
                </a:solidFill>
              </a:defRPr>
            </a:pPr>
            <a:r>
              <a:t>FUTURE HORIZONS</a:t>
            </a:r>
          </a:p>
          <a:p>
            <a:pPr>
              <a:spcBef>
                <a:spcPts val="400"/>
              </a:spcBef>
              <a:defRPr sz="2600" b="1">
                <a:solidFill>
                  <a:srgbClr val="FFFFFF"/>
                </a:solidFill>
              </a:defRPr>
            </a:pPr>
            <a:r>
              <a:t>Scaling Borlawura Across Ghana &amp; West Africa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474720" cy="3291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31089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59669"/>
                </a:solidFill>
              </a:defRPr>
            </a:pPr>
            <a:r>
              <a:t>PHASE 1: CURRENT ROLLOUT</a:t>
            </a:r>
          </a:p>
          <a:p>
            <a:pPr>
              <a:spcBef>
                <a:spcPts val="300"/>
              </a:spcBef>
              <a:defRPr sz="1300" b="1">
                <a:solidFill>
                  <a:srgbClr val="FFFFFF"/>
                </a:solidFill>
              </a:defRPr>
            </a:pPr>
            <a:r>
              <a:t>Accra &amp; Tema Operations</a:t>
            </a:r>
          </a:p>
          <a:p>
            <a:pPr>
              <a:spcBef>
                <a:spcPts val="700"/>
              </a:spcBef>
              <a:defRPr sz="950">
                <a:solidFill>
                  <a:srgbClr val="CBD5E1"/>
                </a:solidFill>
              </a:defRPr>
            </a:pPr>
            <a:r>
              <a:t>• Customer map-first web app live with MoMo</a:t>
            </a:r>
          </a:p>
          <a:p>
            <a:pPr>
              <a:spcBef>
                <a:spcPts val="700"/>
              </a:spcBef>
              <a:defRPr sz="950">
                <a:solidFill>
                  <a:srgbClr val="CBD5E1"/>
                </a:solidFill>
              </a:defRPr>
            </a:pPr>
            <a:r>
              <a:t>• Collector driver workflow &amp; photo proof</a:t>
            </a:r>
          </a:p>
          <a:p>
            <a:pPr>
              <a:spcBef>
                <a:spcPts val="700"/>
              </a:spcBef>
              <a:defRPr sz="950">
                <a:solidFill>
                  <a:srgbClr val="CBD5E1"/>
                </a:solidFill>
              </a:defRPr>
            </a:pPr>
            <a:r>
              <a:t>• Operations &amp; Finance CMS portal</a:t>
            </a:r>
          </a:p>
          <a:p>
            <a:pPr>
              <a:spcBef>
                <a:spcPts val="700"/>
              </a:spcBef>
              <a:defRPr sz="950">
                <a:solidFill>
                  <a:srgbClr val="CBD5E1"/>
                </a:solidFill>
              </a:defRPr>
            </a:pPr>
            <a:r>
              <a:t>• Active in Osu, East Legon, Adenta, Tema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2011680"/>
            <a:ext cx="3474720" cy="3291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2148840"/>
            <a:ext cx="31089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D97706"/>
                </a:solidFill>
              </a:defRPr>
            </a:pPr>
            <a:r>
              <a:t>PHASE 2: H2 EXPANSION</a:t>
            </a:r>
          </a:p>
          <a:p>
            <a:pPr>
              <a:spcBef>
                <a:spcPts val="300"/>
              </a:spcBef>
              <a:defRPr sz="1300" b="1">
                <a:solidFill>
                  <a:srgbClr val="FFFFFF"/>
                </a:solidFill>
              </a:defRPr>
            </a:pPr>
            <a:r>
              <a:t>Regional Hubs &amp; Buy-Backs</a:t>
            </a:r>
          </a:p>
          <a:p>
            <a:pPr>
              <a:spcBef>
                <a:spcPts val="700"/>
              </a:spcBef>
              <a:defRPr sz="950">
                <a:solidFill>
                  <a:srgbClr val="CBD5E1"/>
                </a:solidFill>
              </a:defRPr>
            </a:pPr>
            <a:r>
              <a:t>• Native iOS &amp; Android mobile applications</a:t>
            </a:r>
          </a:p>
          <a:p>
            <a:pPr>
              <a:spcBef>
                <a:spcPts val="700"/>
              </a:spcBef>
              <a:defRPr sz="950">
                <a:solidFill>
                  <a:srgbClr val="CBD5E1"/>
                </a:solidFill>
              </a:defRPr>
            </a:pPr>
            <a:r>
              <a:t>• Partnerships with certified plastic recyclers</a:t>
            </a:r>
          </a:p>
          <a:p>
            <a:pPr>
              <a:spcBef>
                <a:spcPts val="700"/>
              </a:spcBef>
              <a:defRPr sz="950">
                <a:solidFill>
                  <a:srgbClr val="CBD5E1"/>
                </a:solidFill>
              </a:defRPr>
            </a:pPr>
            <a:r>
              <a:t>• Commercial B2B waste contracts</a:t>
            </a:r>
          </a:p>
          <a:p>
            <a:pPr>
              <a:spcBef>
                <a:spcPts val="700"/>
              </a:spcBef>
              <a:defRPr sz="950">
                <a:solidFill>
                  <a:srgbClr val="CBD5E1"/>
                </a:solidFill>
              </a:defRPr>
            </a:pPr>
            <a:r>
              <a:t>• Expansion to Kumasi, Takoradi &amp; Cape Coast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2011680"/>
            <a:ext cx="3474720" cy="3291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2148840"/>
            <a:ext cx="31089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EA5E9"/>
                </a:solidFill>
              </a:defRPr>
            </a:pPr>
            <a:r>
              <a:t>PHASE 3: LONG-TERM VISION</a:t>
            </a:r>
          </a:p>
          <a:p>
            <a:pPr>
              <a:spcBef>
                <a:spcPts val="300"/>
              </a:spcBef>
              <a:defRPr sz="1300" b="1">
                <a:solidFill>
                  <a:srgbClr val="FFFFFF"/>
                </a:solidFill>
              </a:defRPr>
            </a:pPr>
            <a:r>
              <a:t>Circular Economy Ecosystem</a:t>
            </a:r>
          </a:p>
          <a:p>
            <a:pPr>
              <a:spcBef>
                <a:spcPts val="700"/>
              </a:spcBef>
              <a:defRPr sz="950">
                <a:solidFill>
                  <a:srgbClr val="CBD5E1"/>
                </a:solidFill>
              </a:defRPr>
            </a:pPr>
            <a:r>
              <a:t>• AI waste material sorting &amp; volume appraisal</a:t>
            </a:r>
          </a:p>
          <a:p>
            <a:pPr>
              <a:spcBef>
                <a:spcPts val="700"/>
              </a:spcBef>
              <a:defRPr sz="950">
                <a:solidFill>
                  <a:srgbClr val="CBD5E1"/>
                </a:solidFill>
              </a:defRPr>
            </a:pPr>
            <a:r>
              <a:t>• Tokenized green credits for recycling households</a:t>
            </a:r>
          </a:p>
          <a:p>
            <a:pPr>
              <a:spcBef>
                <a:spcPts val="700"/>
              </a:spcBef>
              <a:defRPr sz="950">
                <a:solidFill>
                  <a:srgbClr val="CBD5E1"/>
                </a:solidFill>
              </a:defRPr>
            </a:pPr>
            <a:r>
              <a:t>• Corporate ESG sustainability reporting APIs</a:t>
            </a:r>
          </a:p>
          <a:p>
            <a:pPr>
              <a:spcBef>
                <a:spcPts val="700"/>
              </a:spcBef>
              <a:defRPr sz="950">
                <a:solidFill>
                  <a:srgbClr val="CBD5E1"/>
                </a:solidFill>
              </a:defRPr>
            </a:pPr>
            <a:r>
              <a:t>• Expansion into West African urban centers</a:t>
            </a:r>
          </a:p>
        </p:txBody>
      </p:sp>
      <p:sp>
        <p:nvSpPr>
          <p:cNvPr id="11" name="Rounded Rectangle 10">
            <a:hlinkClick action="ppaction://hlinksldjump" r:id="rId2"/>
          </p:cNvPr>
          <p:cNvSpPr/>
          <p:nvPr/>
        </p:nvSpPr>
        <p:spPr>
          <a:xfrm>
            <a:off x="731520" y="5623560"/>
            <a:ext cx="3291840" cy="59436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☖ Return to Interactive Hub</a:t>
            </a:r>
          </a:p>
        </p:txBody>
      </p:sp>
      <p:sp>
        <p:nvSpPr>
          <p:cNvPr id="12" name="Rounded Rectangle 11">
            <a:hlinkClick r:id="rId3"/>
          </p:cNvPr>
          <p:cNvSpPr/>
          <p:nvPr/>
        </p:nvSpPr>
        <p:spPr>
          <a:xfrm>
            <a:off x="4434840" y="5623560"/>
            <a:ext cx="3291840" cy="594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BBF24"/>
                </a:solidFill>
              </a:defRPr>
            </a:pPr>
            <a:r>
              <a:t>Open Live Web Application ↗</a:t>
            </a:r>
          </a:p>
        </p:txBody>
      </p:sp>
      <p:sp>
        <p:nvSpPr>
          <p:cNvPr id="13" name="Rounded Rectangle 12">
            <a:hlinkClick r:id="rId4"/>
          </p:cNvPr>
          <p:cNvSpPr/>
          <p:nvPr/>
        </p:nvSpPr>
        <p:spPr>
          <a:xfrm>
            <a:off x="8138160" y="5623560"/>
            <a:ext cx="3291840" cy="594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Open Operations CMS ↗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